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youtu.be/qZQMvaPy4I4" TargetMode="External"/><Relationship Id="rId6" Type="http://schemas.openxmlformats.org/officeDocument/2006/relationships/hyperlink" Target="https://github.com/YuriRASousa/ComunidadeConectada_FASE5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7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image" Target="../media/image-1-7.png"/><Relationship Id="rId10" Type="http://schemas.openxmlformats.org/officeDocument/2006/relationships/image" Target="../media/image-1-8.png"/><Relationship Id="rId11" Type="http://schemas.openxmlformats.org/officeDocument/2006/relationships/image" Target="../media/image-1-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6.png"/><Relationship Id="rId10" Type="http://schemas.openxmlformats.org/officeDocument/2006/relationships/image" Target="../media/image-4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4.png"/><Relationship Id="rId7" Type="http://schemas.openxmlformats.org/officeDocument/2006/relationships/image" Target="../media/image-7-7.png"/><Relationship Id="rId8" Type="http://schemas.openxmlformats.org/officeDocument/2006/relationships/image" Target="../media/image-7-4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hyperlink" Target="https://youtu.be/qZQMvaPy4I4" TargetMode="External"/><Relationship Id="rId8" Type="http://schemas.openxmlformats.org/officeDocument/2006/relationships/hyperlink" Target="https://github.com/YuriRASousa/ComunidadeConectada_FASE5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7" Type="http://schemas.openxmlformats.org/officeDocument/2006/relationships/image" Target="../media/image-9-6.png"/><Relationship Id="rId9" Type="http://schemas.openxmlformats.org/officeDocument/2006/relationships/image" Target="../media/image-9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c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mock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296" y="1180171"/>
            <a:ext cx="2212848" cy="4497659"/>
          </a:xfrm>
          <a:prstGeom prst="rect">
            <a:avLst/>
          </a:prstGeom>
          <a:effectLst>
            <a:outerShdw sx="100000" sy="100000" kx="0" ky="0" algn="bl" rotWithShape="0" blurRad="330200" dist="101600" dir="5400000">
              <a:srgbClr val="000000">
                <a:alpha val="34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566928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FASE 6 · BANCO DE DADOS NA SOCIEDADE 5.0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66928" y="1133856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 HAS</a:t>
            </a:r>
            <a:endParaRPr lang="en-US" sz="4400" dirty="0"/>
          </a:p>
        </p:txBody>
      </p:sp>
      <p:sp>
        <p:nvSpPr>
          <p:cNvPr id="6" name="Shape 2"/>
          <p:cNvSpPr/>
          <p:nvPr/>
        </p:nvSpPr>
        <p:spPr>
          <a:xfrm>
            <a:off x="566928" y="1993392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3"/>
          <p:cNvSpPr/>
          <p:nvPr/>
        </p:nvSpPr>
        <p:spPr>
          <a:xfrm>
            <a:off x="566928" y="2157984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Firebase para o Oracle, com a regra dentro do banco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66928" y="2651760"/>
            <a:ext cx="7406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Nove tabelas modeladas, quatro functions e cinco procedures PL/SQL. O aplicativo pede um emprestimo e quem decide se ele pode acontecer e o proprio banco.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66928" y="3621024"/>
            <a:ext cx="3419856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0" name="Image 2" descr="pptx_assets/ic_youtube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82219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33856" y="3712464"/>
            <a:ext cx="2706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VÍDEO (YOUTUBE, NÃO LISTADO)</a:t>
            </a:r>
            <a:endParaRPr lang="en-US" sz="900" dirty="0"/>
          </a:p>
        </p:txBody>
      </p:sp>
      <p:sp>
        <p:nvSpPr>
          <p:cNvPr id="12" name="Text 7">
            <a:hlinkClick r:id="rId4" tooltip=""/>
          </p:cNvPr>
          <p:cNvSpPr/>
          <p:nvPr/>
        </p:nvSpPr>
        <p:spPr>
          <a:xfrm>
            <a:off x="1133856" y="3922776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youtu.be/qZQMvaPy4I4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187952" y="3621024"/>
            <a:ext cx="4718304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Image 3" descr="pptx_assets/ic_github_sk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82219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4880" y="371246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REPOSITÓRIO (GITHUB)</a:t>
            </a:r>
            <a:endParaRPr lang="en-US" sz="900" dirty="0"/>
          </a:p>
        </p:txBody>
      </p:sp>
      <p:sp>
        <p:nvSpPr>
          <p:cNvPr id="16" name="Text 10">
            <a:hlinkClick r:id="rId6" tooltip=""/>
          </p:cNvPr>
          <p:cNvSpPr/>
          <p:nvPr/>
        </p:nvSpPr>
        <p:spPr>
          <a:xfrm>
            <a:off x="4754880" y="392277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github.com/YuriRASousa/ComunidadeConectada_FASE5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66928" y="4681728"/>
            <a:ext cx="36576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8" name="Image 4" descr="pptx_assets/avatar_yur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681728"/>
            <a:ext cx="658368" cy="658368"/>
          </a:xfrm>
          <a:prstGeom prst="ellipse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72768" y="469087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Yuri Raphael Alves de Sousa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572768" y="5001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 556163 · Sistemas de Informação · FIAP 2026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66928" y="5596128"/>
            <a:ext cx="1633118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2" name="Image 5" descr="pptx_assets/ic_database_sk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5692140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32688" y="5596128"/>
            <a:ext cx="11942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PL/SQL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2328062" y="5596128"/>
            <a:ext cx="200802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5" name="Image 6" descr="pptx_assets/ic_server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6078" y="5692140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693822" y="5596128"/>
            <a:ext cx="15691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+ JDBC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4464101" y="5596128"/>
            <a:ext cx="1558138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8" name="Image 7" descr="pptx_assets/ic_smartphone_indig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2117" y="5692140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829861" y="5596128"/>
            <a:ext cx="111922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6150254" y="5596128"/>
            <a:ext cx="1183234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1" name="Image 8" descr="pptx_assets/ic_layout_amb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8270" y="5692140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516014" y="5596128"/>
            <a:ext cx="7443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| PARTE 1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mudou na solução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troca de banco virou uma mudança de arquitetura: a regra desceu para o Oracle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38528"/>
            <a:ext cx="3532632" cy="1975104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4672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</p:sp>
      <p:pic>
        <p:nvPicPr>
          <p:cNvPr id="10" name="Image 2" descr="pptx_assets/ic_cloud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80879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Antes (Fase 5)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43200"/>
            <a:ext cx="2983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Firestore guardando documentos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Senha no Firebase Authentication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dependia de chamada externa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puro e CORS liberado com curinga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328160" y="1938528"/>
            <a:ext cx="3532632" cy="1975104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90320000" dist="322580000" dir="324000000000">
              <a:srgbClr val="0F172A">
                <a:alpha val="80000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65904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5" name="Image 3" descr="pptx_assets/ic_database_sk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511" y="2280879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2832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Agora (Fase 6)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02480" y="2743200"/>
            <a:ext cx="2983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Nove tabelas relacionais no Oracle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Senha com hash BCrypt na SH_USUARIO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e uma consulta ao banco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por perfil e CORS fechado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089392" y="1938528"/>
            <a:ext cx="3532632" cy="1975104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6387064000000" dist="4096766000000" dir="19440000000000000">
              <a:srgbClr val="0F172A">
                <a:alpha val="8000000000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27136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20" name="Image 4" descr="pptx_assets/ic_zap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743" y="2280879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94064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isso destravou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363712" y="2743200"/>
            <a:ext cx="2983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Emprestimo com prazo e devolução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 e reputação calculada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de atraso automáticos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 de circularidade por mês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66928" y="4224528"/>
            <a:ext cx="11055096" cy="1664208"/>
          </a:xfrm>
          <a:prstGeom prst="roundRect">
            <a:avLst>
              <a:gd name="adj" fmla="val 549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3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96112" y="4535424"/>
            <a:ext cx="658368" cy="658368"/>
          </a:xfrm>
          <a:prstGeom prst="roundRect">
            <a:avLst>
              <a:gd name="adj" fmla="val 7639"/>
            </a:avLst>
          </a:prstGeom>
          <a:solidFill>
            <a:srgbClr val="1E293B"/>
          </a:solidFill>
          <a:ln/>
        </p:spPr>
      </p:sp>
      <p:pic>
        <p:nvPicPr>
          <p:cNvPr id="25" name="Image 5" descr="pptx_assets/ic_shield_s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288" y="4706600"/>
            <a:ext cx="316017" cy="31601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737360" y="4498848"/>
            <a:ext cx="9500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Firebase saiu por completo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1737360" y="4846320"/>
            <a:ext cx="944575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Foram removidos o SDK firebase-admin, a configuração do Firebase, o cliente de autenticação e os tres repositorios Firestore. O token JWT emitido continua igual, entao o aplicativo React Native e o painel Angular nao precisaram de nenhuma alteração no contrato de autenticação: a troca aconteceu inteira do backend para dentro.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6 · Banco de Dados na Sociedade 5.0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30" name="Text 22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| PARTE 2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Modelo lógico e físico no Oracle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Nove tabelas com prefixo SH_, oito sequences, seis indices e comentarios de dicionario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20240"/>
            <a:ext cx="6492240" cy="4457982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58060000" dist="483870000" dir="324000000000">
              <a:srgbClr val="0F172A">
                <a:alpha val="1300000000"/>
              </a:srgbClr>
            </a:outerShdw>
          </a:effectLst>
        </p:spPr>
      </p:sp>
      <p:pic>
        <p:nvPicPr>
          <p:cNvPr id="9" name="Image 2" descr="DER_SmartHAS_Fas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057400"/>
            <a:ext cx="6217920" cy="418366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51776" y="1938528"/>
            <a:ext cx="42702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8115712800000000" dist="52028928200000000" dir="1.1664e+21">
              <a:srgbClr val="0F172A">
                <a:alpha val="800000000000000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589520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2" name="Image 3" descr="pptx_assets/ic_layers_sk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127" y="2280879"/>
            <a:ext cx="193121" cy="1931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56448" y="2176272"/>
            <a:ext cx="3227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Cadastro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626096" y="2743200"/>
            <a:ext cx="3721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Categoria, usuario e recurso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entre moradores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7351776" y="3474720"/>
            <a:ext cx="42702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64306955256e+21" dist="660767388140000000000" dir="6.9984e+25">
              <a:srgbClr val="0F172A">
                <a:alpha val="8e+23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589520" y="371246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7" name="Image 4" descr="pptx_assets/ic_refresh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127" y="3817071"/>
            <a:ext cx="193121" cy="19312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56448" y="3712464"/>
            <a:ext cx="3227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Circulação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7626096" y="4279392"/>
            <a:ext cx="3721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Emprestimo e avaliação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mensal por morador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7351776" y="5010912"/>
            <a:ext cx="42702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3566983317512e+25" dist="8.391745829378e+24" dir="4.19904e+30">
              <a:srgbClr val="0F172A">
                <a:alpha val="8e+28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589520" y="5248656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pic>
        <p:nvPicPr>
          <p:cNvPr id="22" name="Image 5" descr="pptx_assets/ic_alert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127" y="5353263"/>
            <a:ext cx="193121" cy="19312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56448" y="5248656"/>
            <a:ext cx="3227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Operação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7626096" y="5815584"/>
            <a:ext cx="3721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abertos pelas rotinas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Trilha de execução em log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6 · Banco de Dados na Sociedade 5.0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27" name="Text 19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| PARTE 2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o banco passou a garantir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que o banco de documentos aceitava sem reclamar agora sao barrados na origem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38528"/>
            <a:ext cx="3532632" cy="2066544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2630068813240236e+29" dist="1.0657517203310059e+29" dir="2.519424e+35">
              <a:srgbClr val="0F172A">
                <a:alpha val="8e+33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4672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0" name="Image 2" descr="pptx_assets/ic_lock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80879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Integridade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43200"/>
            <a:ext cx="2983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Chaves estrangeiras ligando recurso, dono, categoria e emprestimo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E-mail unico por morador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Chave composta no resumo: um morador por competencia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328160" y="1938528"/>
            <a:ext cx="3532632" cy="2066544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41401873928151e+33" dist="1.3535046848203775e+33" dir="1.5116544e+40">
              <a:srgbClr val="0F172A">
                <a:alpha val="8e+38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65904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5" name="Image 3" descr="pptx_assets/ic_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511" y="2280879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2832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Dominios com CHECK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02480" y="2743200"/>
            <a:ext cx="2983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Tipo, condição e disponibilidade do item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do emprestimo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 de 1 a 5 e severidade do alerta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089392" y="1938528"/>
            <a:ext cx="3532632" cy="2066544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875803798887518e+37" dist="1.7189509497218795e+37" dir="9.069926400000001e+44">
              <a:srgbClr val="0F172A">
                <a:alpha val="8e+43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27136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/>
        </p:spPr>
      </p:sp>
      <p:pic>
        <p:nvPicPr>
          <p:cNvPr id="20" name="Image 4" descr="pptx_assets/ic_fileText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743" y="2280879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94064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Carga simulada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363712" y="2743200"/>
            <a:ext cx="2983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moradores, 20 itens, 15 emprestimos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 relativas a SYSDATE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Dois emprestimos vencidos de proposito, para a rotina ter o que achar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66928" y="4315968"/>
            <a:ext cx="1105509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8677362000000" dist="6145149000000" dir="19440000000000000">
              <a:srgbClr val="0F172A">
                <a:alpha val="130000000000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877824" y="4517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Scripts na ordem de execução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77824" y="4974336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E0F2FE"/>
          </a:solidFill>
          <a:ln/>
        </p:spPr>
      </p:sp>
      <p:sp>
        <p:nvSpPr>
          <p:cNvPr id="26" name="Text 19"/>
          <p:cNvSpPr/>
          <p:nvPr/>
        </p:nvSpPr>
        <p:spPr>
          <a:xfrm>
            <a:off x="877824" y="4974336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01_ddl</a:t>
            </a:r>
            <a:endParaRPr lang="en-US" sz="1100" dirty="0"/>
          </a:p>
        </p:txBody>
      </p:sp>
      <p:pic>
        <p:nvPicPr>
          <p:cNvPr id="27" name="Image 5" descr="pptx_assets/ic_arrowRight_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6876" y="5166360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2660904" y="4974336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E0F2FE"/>
          </a:solidFill>
          <a:ln/>
        </p:spPr>
      </p:sp>
      <p:sp>
        <p:nvSpPr>
          <p:cNvPr id="29" name="Text 21"/>
          <p:cNvSpPr/>
          <p:nvPr/>
        </p:nvSpPr>
        <p:spPr>
          <a:xfrm>
            <a:off x="2660904" y="4974336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02_seed</a:t>
            </a:r>
            <a:endParaRPr lang="en-US" sz="1100" dirty="0"/>
          </a:p>
        </p:txBody>
      </p:sp>
      <p:pic>
        <p:nvPicPr>
          <p:cNvPr id="30" name="Image 6" descr="pptx_assets/ic_arrowRight_sl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9956" y="5166360"/>
            <a:ext cx="182880" cy="18288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443984" y="4974336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D1FAE5"/>
          </a:solidFill>
          <a:ln/>
        </p:spPr>
      </p:sp>
      <p:sp>
        <p:nvSpPr>
          <p:cNvPr id="32" name="Text 23"/>
          <p:cNvSpPr/>
          <p:nvPr/>
        </p:nvSpPr>
        <p:spPr>
          <a:xfrm>
            <a:off x="4443984" y="4974336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03_log</a:t>
            </a:r>
            <a:endParaRPr lang="en-US" sz="1100" dirty="0"/>
          </a:p>
        </p:txBody>
      </p:sp>
      <p:pic>
        <p:nvPicPr>
          <p:cNvPr id="33" name="Image 7" descr="pptx_assets/ic_arrowRight_sl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3036" y="5166360"/>
            <a:ext cx="182880" cy="18288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227064" y="4974336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D1FAE5"/>
          </a:solidFill>
          <a:ln/>
        </p:spPr>
      </p:sp>
      <p:sp>
        <p:nvSpPr>
          <p:cNvPr id="35" name="Text 25"/>
          <p:cNvSpPr/>
          <p:nvPr/>
        </p:nvSpPr>
        <p:spPr>
          <a:xfrm>
            <a:off x="6227064" y="4974336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04_functions</a:t>
            </a:r>
            <a:endParaRPr lang="en-US" sz="1100" dirty="0"/>
          </a:p>
        </p:txBody>
      </p:sp>
      <p:pic>
        <p:nvPicPr>
          <p:cNvPr id="36" name="Image 8" descr="pptx_assets/ic_arrowRight_sl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6116" y="5166360"/>
            <a:ext cx="182880" cy="182880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8010144" y="4974336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D1FAE5"/>
          </a:solidFill>
          <a:ln/>
        </p:spPr>
      </p:sp>
      <p:sp>
        <p:nvSpPr>
          <p:cNvPr id="38" name="Text 27"/>
          <p:cNvSpPr/>
          <p:nvPr/>
        </p:nvSpPr>
        <p:spPr>
          <a:xfrm>
            <a:off x="8010144" y="4974336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05_procedures</a:t>
            </a:r>
            <a:endParaRPr lang="en-US" sz="1100" dirty="0"/>
          </a:p>
        </p:txBody>
      </p:sp>
      <p:pic>
        <p:nvPicPr>
          <p:cNvPr id="39" name="Image 9" descr="pptx_assets/ic_arrowRight_sla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9196" y="5166360"/>
            <a:ext cx="182880" cy="182880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9793224" y="4974336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EEF2F7"/>
          </a:solidFill>
          <a:ln/>
        </p:spPr>
      </p:sp>
      <p:sp>
        <p:nvSpPr>
          <p:cNvPr id="41" name="Text 29"/>
          <p:cNvSpPr/>
          <p:nvPr/>
        </p:nvSpPr>
        <p:spPr>
          <a:xfrm>
            <a:off x="9793224" y="4974336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06_consultas</a:t>
            </a:r>
            <a:endParaRPr lang="en-US" sz="1100" dirty="0"/>
          </a:p>
        </p:txBody>
      </p:sp>
      <p:sp>
        <p:nvSpPr>
          <p:cNvPr id="42" name="Text 30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6 · Banco de Dados na Sociedade 5.0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44" name="Text 32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| PARTE 3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Functions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devolve indicador, outra devolve dado formatado, as duas rodam dentro do SELECT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38528"/>
            <a:ext cx="537210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10" name="Image 2" descr="pptx_assets/ic_target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80879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76272"/>
            <a:ext cx="43296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FN_SH_INDICE_CIRCULARIDADE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43200"/>
            <a:ext cx="48234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Emprestimos concedidos por item publicado no mes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 a competencia AAAAMM e trata divisao por zero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249924" y="1938528"/>
            <a:ext cx="537210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487668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15" name="Image 3" descr="pptx_assets/ic_fileTex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275" y="2280879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54596" y="2176272"/>
            <a:ext cx="43296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FN_SH_FICHA_RECURSO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524244" y="2743200"/>
            <a:ext cx="48234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 do item em uma linha pronta para a tela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%ROWTYPE, NO_DATA_FOUND e TOO_MANY_ROWS tratados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66928" y="3657600"/>
            <a:ext cx="537210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04672" y="38953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20" name="Image 4" descr="pptx_assets/ic_users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279" y="3999951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3895344"/>
            <a:ext cx="43296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FN_SH_REPUTACAO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41248" y="4462272"/>
            <a:ext cx="48234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das notas recebidas nas devoluções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Morador sem avaliação comeca em 5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249924" y="3657600"/>
            <a:ext cx="537210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87668" y="38953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25" name="Image 5" descr="pptx_assets/ic_mapPin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275" y="3999951"/>
            <a:ext cx="193121" cy="19312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54596" y="3895344"/>
            <a:ext cx="43296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FN_SH_DISTANCIA_KM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524244" y="4462272"/>
            <a:ext cx="48234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Haversine entre duas coordenadas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DETERMINISTIC: ordena a vitrine por proximidade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566928" y="5138928"/>
            <a:ext cx="11055096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68096" y="5285232"/>
            <a:ext cx="10652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nm_usuario,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fn_sh_reputacao(id_usuario)                    AS reputacao,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fn_sh_indice_circularidade(id_usuario, 202609) AS circularidade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sh_usuario WHERE st_usuario = 'A' ORDER BY 3 DESC;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6 · Banco de Dados na Sociedade 5.0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2" name="Text 24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| PARTE 3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Procedures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Duas atendem o usuario final, duas sao rotinas de operação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38528"/>
            <a:ext cx="3532632" cy="1975104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732270824587148e+41" dist="2.183067706146787e+41" dir="5.44195584e+49">
              <a:srgbClr val="0F172A">
                <a:alpha val="8e+48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4672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0" name="Image 2" descr="pptx_assets/ic_handHeart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80879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REGISTRA_EMPRESTIMO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43200"/>
            <a:ext cx="2983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Parametros IN e OUT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Recusa dono pedindo o proprio item, item indisponivel, tipo errado e usuario inativo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no sucesso, ROLLBACK no erro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328160" y="1938528"/>
            <a:ext cx="3532632" cy="1975104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1089983947225678e+46" dist="2.7724959868064195e+45" dir="3.2651735040000005e+54">
              <a:srgbClr val="0F172A">
                <a:alpha val="8e+53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65904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5" name="Image 3" descr="pptx_assets/ic_circle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511" y="2280879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2832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REGISTRA_DEVOLUCAO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02480" y="2743200"/>
            <a:ext cx="2983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 opcional de 1 a 5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alerta quando a devolução atrasa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Atualiza a reputação usando a function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089392" y="1938528"/>
            <a:ext cx="3532632" cy="1975104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408427961297661e+50" dist="3.5210699032441527e+49" dir="1.9591041024000004e+59">
              <a:srgbClr val="0F172A">
                <a:alpha val="8e+58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27136" y="2176272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pic>
        <p:nvPicPr>
          <p:cNvPr id="20" name="Image 4" descr="pptx_assets/ic_alert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743" y="2280879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94064" y="2176272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DETECTA_ATRASOS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363712" y="2743200"/>
            <a:ext cx="2983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CURSOR FOR LOOP nos emprestimos vencidos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define a severidade pelo tamanho do atraso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repete alerta ja aberto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66928" y="4096512"/>
            <a:ext cx="5372100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7887035108480297e+54" dist="4.471758777120074e+53" dir="1.1754624614400003e+64">
              <a:srgbClr val="0F172A">
                <a:alpha val="7.999999999999999e+63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04672" y="4334256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/>
        </p:spPr>
      </p:sp>
      <p:pic>
        <p:nvPicPr>
          <p:cNvPr id="25" name="Image 5" descr="pptx_assets/ic_refresh_indi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279" y="4438863"/>
            <a:ext cx="193121" cy="19312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4334256"/>
            <a:ext cx="43296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GERA_RESUMO_MENSAL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41248" y="4901184"/>
            <a:ext cx="48234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COLLECT e FORALL sobre TABLE OF ...%ROWTYPE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Recarrega SH_RESUMO_USUARIO_MES para a competencia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painel le numero pronto em vez de refazer a conta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249924" y="4096512"/>
            <a:ext cx="5372100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2716534587769977e+58" dist="5.679133646942494e+57" dir="7.052774768640002e+68">
              <a:srgbClr val="0F172A">
                <a:alpha val="7.999999999999999e+68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487668" y="4334256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pic>
        <p:nvPicPr>
          <p:cNvPr id="30" name="Image 6" descr="pptx_assets/ic_terminal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275" y="4438863"/>
            <a:ext cx="193121" cy="1931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54596" y="4334256"/>
            <a:ext cx="43296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GRAVA_LOG e ATUALIZA_REPUTACAO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6524244" y="4901184"/>
            <a:ext cx="48234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PRAGMA AUTONOMOUS_TRANSACTION: o log sobrevive ao ROLLBACK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 rotina registra inicio, fim e erro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Reputação gravada a partir da function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6 · Banco de Dados na Sociedade 5.0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35" name="Text 26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| PARTE 3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toque no aplicativo ate a procedure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requisito de acionar PL/SQL pelo backend Java, no fluxo mais usado do produto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75104"/>
            <a:ext cx="2487168" cy="1335024"/>
          </a:xfrm>
          <a:prstGeom prst="roundRect">
            <a:avLst>
              <a:gd name="adj" fmla="val 68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2212848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10" name="Image 2" descr="pptx_assets/ic_smartphone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317455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5024" y="2212848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Aplicativo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04672" y="272491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Botão Pedir emprestado</a:t>
            </a:r>
            <a:endParaRPr lang="en-US" sz="1000" dirty="0"/>
          </a:p>
        </p:txBody>
      </p:sp>
      <p:pic>
        <p:nvPicPr>
          <p:cNvPr id="13" name="Image 3" descr="pptx_assets/ic_arrowRight_sk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542032"/>
            <a:ext cx="201168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401568" y="1975104"/>
            <a:ext cx="2487168" cy="1335024"/>
          </a:xfrm>
          <a:prstGeom prst="roundRect">
            <a:avLst>
              <a:gd name="adj" fmla="val 68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639312" y="2212848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16" name="Image 4" descr="pptx_assets/ic_plug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919" y="2317455"/>
            <a:ext cx="193121" cy="19312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169664" y="2212848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639312" y="272491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/api/emprestimos</a:t>
            </a:r>
            <a:endParaRPr lang="en-US" sz="1000" dirty="0"/>
          </a:p>
        </p:txBody>
      </p:sp>
      <p:pic>
        <p:nvPicPr>
          <p:cNvPr id="19" name="Image 5" descr="pptx_assets/ic_arrowRight_s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2542032"/>
            <a:ext cx="201168" cy="20116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236208" y="1975104"/>
            <a:ext cx="2487168" cy="1335024"/>
          </a:xfrm>
          <a:prstGeom prst="roundRect">
            <a:avLst>
              <a:gd name="adj" fmla="val 68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6473952" y="2212848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22" name="Image 6" descr="pptx_assets/ic_server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8559" y="2317455"/>
            <a:ext cx="193121" cy="19312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04304" y="2212848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Java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6473952" y="272491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SimpleJdbcCall</a:t>
            </a:r>
            <a:endParaRPr lang="en-US" sz="1000" dirty="0"/>
          </a:p>
        </p:txBody>
      </p:sp>
      <p:pic>
        <p:nvPicPr>
          <p:cNvPr id="25" name="Image 7" descr="pptx_assets/ic_arrowRight_sk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528" y="2542032"/>
            <a:ext cx="201168" cy="20116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9070848" y="1975104"/>
            <a:ext cx="2487168" cy="1335024"/>
          </a:xfrm>
          <a:prstGeom prst="roundRect">
            <a:avLst>
              <a:gd name="adj" fmla="val 68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9308592" y="2212848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28" name="Image 8" descr="pptx_assets/ic_database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3199" y="2317455"/>
            <a:ext cx="193121" cy="193121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838944" y="2212848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Oracle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9308592" y="272491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PRC_SH_REGISTRA_EMPRESTIMO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566928" y="3547872"/>
            <a:ext cx="6675120" cy="1627632"/>
          </a:xfrm>
          <a:prstGeom prst="roundRect">
            <a:avLst>
              <a:gd name="adj" fmla="val 449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768096" y="3694176"/>
            <a:ext cx="627278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SimpleJdbcCall(jdbc)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.withProcedureName("PRC_SH_REGISTRA_EMPRESTIMO")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.withoutProcedureColumnMetaDataAccess()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.declareParameters(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SqlParameter("p_id_recurso", Types.NUMERIC),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SqlOutParameter("p_ds_retorno", Types.VARCHAR));</a:t>
            </a:r>
            <a:endParaRPr lang="en-US" sz="1050" dirty="0"/>
          </a:p>
        </p:txBody>
      </p:sp>
      <p:sp>
        <p:nvSpPr>
          <p:cNvPr id="33" name="Shape 22"/>
          <p:cNvSpPr/>
          <p:nvPr/>
        </p:nvSpPr>
        <p:spPr>
          <a:xfrm>
            <a:off x="7516368" y="3547872"/>
            <a:ext cx="4105656" cy="1627632"/>
          </a:xfrm>
          <a:prstGeom prst="roundRect">
            <a:avLst>
              <a:gd name="adj" fmla="val 56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7754112" y="3785616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35" name="Image 9" descr="pptx_assets/ic_shield_r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719" y="3890223"/>
            <a:ext cx="193121" cy="19312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321040" y="3785616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Erro que vira resposta HTTP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7790688" y="4352544"/>
            <a:ext cx="35570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RAISE_APPLICATION_ERROR entre -20000 e -20999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backend le so a primeira linha e descarta a pilha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404, 409 ou 400 conforme o codigo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566928" y="5376672"/>
            <a:ext cx="11055096" cy="859536"/>
          </a:xfrm>
          <a:prstGeom prst="roundRect">
            <a:avLst>
              <a:gd name="adj" fmla="val 106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877824" y="5449824"/>
            <a:ext cx="104333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morador tenta pegar emprestado o proprio item e le na tela: "O solicitante e o proprio dono do recurso 7." Esse texto foi escrito dentro da procedure, nao no aplicativo.</a:t>
            </a:r>
            <a:endParaRPr lang="en-US" sz="1250" dirty="0"/>
          </a:p>
        </p:txBody>
      </p:sp>
      <p:sp>
        <p:nvSpPr>
          <p:cNvPr id="40" name="Text 28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6 · Banco de Dados na Sociedade 5.0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2" name="Text 30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| NA PRÁTICA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mesma procedure no aplicativo e no painel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Telas capturadas com o backend ligado no Oracle da FIAP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8" name="Image 2" descr="pptx_assets/mock_f6_emprestimo_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8528"/>
            <a:ext cx="1381192" cy="2962656"/>
          </a:xfrm>
          <a:prstGeom prst="rect">
            <a:avLst/>
          </a:prstGeom>
          <a:effectLst>
            <a:outerShdw sx="100000" sy="100000" kx="0" ky="0" algn="bl" rotWithShape="0" blurRad="364202497400000000" dist="78043392300000000" dir="1.1664e+21">
              <a:srgbClr val="0F172A">
                <a:alpha val="13000000000000000000"/>
              </a:srgbClr>
            </a:outerShdw>
          </a:effectLst>
        </p:spPr>
      </p:pic>
      <p:pic>
        <p:nvPicPr>
          <p:cNvPr id="9" name="Image 3" descr="pptx_assets/mock_f6_emprestimo_recus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288" y="1938528"/>
            <a:ext cx="1381192" cy="2962656"/>
          </a:xfrm>
          <a:prstGeom prst="rect">
            <a:avLst/>
          </a:prstGeom>
          <a:effectLst>
            <a:outerShdw sx="100000" sy="100000" kx="0" ky="0" algn="bl" rotWithShape="0" blurRad="4.62537171698e+21" dist="991151082210000000000" dir="6.9984e+25">
              <a:srgbClr val="0F172A">
                <a:alpha val="1.3e+24"/>
              </a:srgbClr>
            </a:outerShdw>
          </a:effectLst>
        </p:spPr>
      </p:pic>
      <p:sp>
        <p:nvSpPr>
          <p:cNvPr id="10" name="Text 4"/>
          <p:cNvSpPr/>
          <p:nvPr/>
        </p:nvSpPr>
        <p:spPr>
          <a:xfrm>
            <a:off x="566928" y="4992624"/>
            <a:ext cx="29635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Aceito e recusado pelo Oracle</a:t>
            </a:r>
            <a:endParaRPr lang="en-US" sz="1100" dirty="0"/>
          </a:p>
        </p:txBody>
      </p:sp>
      <p:pic>
        <p:nvPicPr>
          <p:cNvPr id="11" name="Image 4" descr="pptx_assets/mock_f6_painel_rotina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735" y="1938528"/>
            <a:ext cx="4509370" cy="2962656"/>
          </a:xfrm>
          <a:prstGeom prst="rect">
            <a:avLst/>
          </a:prstGeom>
          <a:effectLst>
            <a:outerShdw sx="100000" sy="100000" kx="0" ky="0" algn="bl" rotWithShape="0" blurRad="5.8742220805646e+25" dist="1.2587618744067e+25" dir="4.19904e+30">
              <a:srgbClr val="0F172A">
                <a:alpha val="1.3e+29"/>
              </a:srgbClr>
            </a:outerShdw>
          </a:effectLst>
        </p:spPr>
      </p:pic>
      <p:sp>
        <p:nvSpPr>
          <p:cNvPr id="12" name="Text 5"/>
          <p:cNvSpPr/>
          <p:nvPr/>
        </p:nvSpPr>
        <p:spPr>
          <a:xfrm>
            <a:off x="3932815" y="4992624"/>
            <a:ext cx="768920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Painel: rotinas, alertas e resumo do mês</a:t>
            </a:r>
            <a:endParaRPr lang="en-US" sz="1100" dirty="0"/>
          </a:p>
        </p:txBody>
      </p:sp>
      <p:sp>
        <p:nvSpPr>
          <p:cNvPr id="13" name="Shape 6"/>
          <p:cNvSpPr/>
          <p:nvPr/>
        </p:nvSpPr>
        <p:spPr>
          <a:xfrm>
            <a:off x="566928" y="5175504"/>
            <a:ext cx="353263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8849998926467873e+62" dist="7.212499731616968e+61" dir="4.2316648611840007e+73">
              <a:srgbClr val="0F172A">
                <a:alpha val="7.999999999999999e+73"/>
              </a:srgbClr>
            </a:outerShdw>
          </a:effectLst>
        </p:spPr>
      </p:sp>
      <p:sp>
        <p:nvSpPr>
          <p:cNvPr id="14" name="Shape 7"/>
          <p:cNvSpPr/>
          <p:nvPr/>
        </p:nvSpPr>
        <p:spPr>
          <a:xfrm>
            <a:off x="804672" y="5413248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5" name="Image 5" descr="pptx_assets/ic_handHeart_s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279" y="5517855"/>
            <a:ext cx="193121" cy="19312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71600" y="5413248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aplicativo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841248" y="5980176"/>
            <a:ext cx="29839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 do item, pedido com prazo e devolução</a:t>
            </a:r>
            <a:endParaRPr lang="en-US" sz="1050" dirty="0"/>
          </a:p>
        </p:txBody>
      </p:sp>
      <p:sp>
        <p:nvSpPr>
          <p:cNvPr id="18" name="Shape 10"/>
          <p:cNvSpPr/>
          <p:nvPr/>
        </p:nvSpPr>
        <p:spPr>
          <a:xfrm>
            <a:off x="4328160" y="5175504"/>
            <a:ext cx="353263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66394986366142e+66" dist="9.15987465915355e+65" dir="2.5389989167104004e+78">
              <a:srgbClr val="0F172A">
                <a:alpha val="7.999999999999998e+78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4565904" y="5413248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</p:sp>
      <p:pic>
        <p:nvPicPr>
          <p:cNvPr id="20" name="Image 6" descr="pptx_assets/ic_shield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511" y="5517855"/>
            <a:ext cx="193121" cy="193121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32832" y="5413248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Regra recusada</a:t>
            </a:r>
            <a:endParaRPr lang="en-US" sz="1350" dirty="0"/>
          </a:p>
        </p:txBody>
      </p:sp>
      <p:sp>
        <p:nvSpPr>
          <p:cNvPr id="22" name="Text 13"/>
          <p:cNvSpPr/>
          <p:nvPr/>
        </p:nvSpPr>
        <p:spPr>
          <a:xfrm>
            <a:off x="4602480" y="5980176"/>
            <a:ext cx="29839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texto do erro foi escrito na procedure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8089392" y="5175504"/>
            <a:ext cx="353263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653216326850003e+70" dist="1.1633040817125008e+70" dir="1.5233993500262402e+83">
              <a:srgbClr val="0F172A">
                <a:alpha val="7.999999999999998e+83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8327136" y="5413248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25" name="Image 7" descr="pptx_assets/ic_refresh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1743" y="5517855"/>
            <a:ext cx="193121" cy="193121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894064" y="5413248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painel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8363712" y="5980176"/>
            <a:ext cx="2983992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Dois botoes disparam as rotinas de operação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6 · Banco de Dados na Sociedade 5.0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30" name="Text 20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FECHO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fica desta fase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66928" y="1316736"/>
            <a:ext cx="11055096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Shape 3"/>
          <p:cNvSpPr/>
          <p:nvPr/>
        </p:nvSpPr>
        <p:spPr>
          <a:xfrm>
            <a:off x="566928" y="1828800"/>
            <a:ext cx="537210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20665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9" name="Image 2" descr="pptx_assets/ic_circle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171151"/>
            <a:ext cx="193121" cy="1931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066544"/>
            <a:ext cx="43296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Entregue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41248" y="2633472"/>
            <a:ext cx="48234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relacional completo, com carga simulada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Quatro functions e cinco procedures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Java chamando procedure por JDBC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Transporte em TLS 1.3 e CORS restrito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Aplicativo e painel usando as duas pontas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249924" y="1828800"/>
            <a:ext cx="537210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87668" y="20665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pic>
        <p:nvPicPr>
          <p:cNvPr id="14" name="Image 3" descr="pptx_assets/ic_rocket_sk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275" y="2171151"/>
            <a:ext cx="193121" cy="1931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54596" y="2066544"/>
            <a:ext cx="43296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Proximos passos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524244" y="2633472"/>
            <a:ext cx="48234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Agendar as rotinas com DBMS_SCHEDULER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Agrupar as rotinas em um package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Historico da tabela de resumo virando grafico no painel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66928" y="4059936"/>
            <a:ext cx="11055096" cy="1024128"/>
          </a:xfrm>
          <a:prstGeom prst="roundRect">
            <a:avLst>
              <a:gd name="adj" fmla="val 89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77824" y="4151376"/>
            <a:ext cx="104333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regra de quem pode pegar um item emprestado saiu do Java e foi morar junto dos dados. Agora ela vale para o aplicativo, para o painel e para qualquer carga feita direto no banco.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66928" y="5266944"/>
            <a:ext cx="2999232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0" name="Image 4" descr="pptx_assets/ic_youtube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468112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33856" y="535838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VÍDEO (YOUTUBE, NÃO LISTADO)</a:t>
            </a:r>
            <a:endParaRPr lang="en-US" sz="900" dirty="0"/>
          </a:p>
        </p:txBody>
      </p:sp>
      <p:sp>
        <p:nvSpPr>
          <p:cNvPr id="22" name="Text 15">
            <a:hlinkClick r:id="rId6" tooltip=""/>
          </p:cNvPr>
          <p:cNvSpPr/>
          <p:nvPr/>
        </p:nvSpPr>
        <p:spPr>
          <a:xfrm>
            <a:off x="1133856" y="5568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youtu.be/qZQMvaPy4I4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767328" y="5266944"/>
            <a:ext cx="4718304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4" name="Image 5" descr="pptx_assets/ic_github_sk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8496" y="546811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334256" y="535838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REPOSITÓRIO (GITHUB)</a:t>
            </a:r>
            <a:endParaRPr lang="en-US" sz="900" dirty="0"/>
          </a:p>
        </p:txBody>
      </p:sp>
      <p:sp>
        <p:nvSpPr>
          <p:cNvPr id="26" name="Text 18">
            <a:hlinkClick r:id="rId8" tooltip=""/>
          </p:cNvPr>
          <p:cNvSpPr/>
          <p:nvPr/>
        </p:nvSpPr>
        <p:spPr>
          <a:xfrm>
            <a:off x="4334256" y="556869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github.com/YuriRASousa/ComunidadeConectada_FASE5</a:t>
            </a:r>
            <a:endParaRPr lang="en-US" sz="1100" dirty="0"/>
          </a:p>
        </p:txBody>
      </p:sp>
      <p:pic>
        <p:nvPicPr>
          <p:cNvPr id="27" name="Image 6" descr="pptx_assets/avatar_yur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6216" y="5266944"/>
            <a:ext cx="658368" cy="658368"/>
          </a:xfrm>
          <a:prstGeom prst="ellipse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372600" y="530352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Yuri Raphael Alves de Sousa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9372600" y="559612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 556163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6 · Banco de Dados na Sociedade 5.0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2" name="Text 23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HAS · Fase 6 · Banco de Dados na Sociedade 5.0</dc:title>
  <dc:subject>PptxGenJS Presentation</dc:subject>
  <dc:creator>Yuri Raphael Alves de Sousa</dc:creator>
  <cp:lastModifiedBy>Yuri Raphael Alves de Sousa</cp:lastModifiedBy>
  <cp:revision>1</cp:revision>
  <dcterms:created xsi:type="dcterms:W3CDTF">2026-10-04T18:14:52Z</dcterms:created>
  <dcterms:modified xsi:type="dcterms:W3CDTF">2026-10-04T18:14:52Z</dcterms:modified>
</cp:coreProperties>
</file>