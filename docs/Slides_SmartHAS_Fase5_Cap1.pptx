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41280" y="548640"/>
            <a:ext cx="1554480" cy="1554480"/>
          </a:xfrm>
          <a:prstGeom prst="ellipse">
            <a:avLst/>
          </a:prstGeom>
          <a:solidFill>
            <a:srgbClr val="1E293B"/>
          </a:solidFill>
          <a:ln/>
        </p:spPr>
      </p:sp>
      <p:pic>
        <p:nvPicPr>
          <p:cNvPr id="3" name="Image 0" descr="pptx_assets/netwo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14355" y="921715"/>
            <a:ext cx="808330" cy="80833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2103120"/>
            <a:ext cx="9144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 HAS</a:t>
            </a:r>
            <a:endParaRPr lang="en-US" sz="4800" dirty="0"/>
          </a:p>
        </p:txBody>
      </p:sp>
      <p:sp>
        <p:nvSpPr>
          <p:cNvPr id="5" name="Text 2"/>
          <p:cNvSpPr/>
          <p:nvPr/>
        </p:nvSpPr>
        <p:spPr>
          <a:xfrm>
            <a:off x="731520" y="28803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ComunidadeConectada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731520" y="352044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5 · Capítulo 1 — Mobile Hybrid App e a Sociedade 5.0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31520" y="5029200"/>
            <a:ext cx="5120640" cy="1280160"/>
          </a:xfrm>
          <a:prstGeom prst="roundRect">
            <a:avLst>
              <a:gd name="adj" fmla="val 7143"/>
            </a:avLst>
          </a:prstGeom>
          <a:solidFill>
            <a:srgbClr val="1E293B"/>
          </a:solidFill>
          <a:ln/>
        </p:spPr>
      </p:sp>
      <p:sp>
        <p:nvSpPr>
          <p:cNvPr id="8" name="Text 5"/>
          <p:cNvSpPr/>
          <p:nvPr/>
        </p:nvSpPr>
        <p:spPr>
          <a:xfrm>
            <a:off x="1005840" y="5212080"/>
            <a:ext cx="4572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Integrante: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Yuri Sousa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RM: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556163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64008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FIAP —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é o Smart HAS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app híbrido de economia colaborativa para a Sociedade 5.0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822960" cy="822960"/>
          </a:xfrm>
          <a:prstGeom prst="ellipse">
            <a:avLst/>
          </a:prstGeom>
          <a:solidFill>
            <a:srgbClr val="0EA5E9"/>
          </a:solidFill>
          <a:ln/>
        </p:spPr>
      </p:sp>
      <p:pic>
        <p:nvPicPr>
          <p:cNvPr id="5" name="Image 0" descr="pptx_assets/us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7590" y="2117750"/>
            <a:ext cx="427939" cy="42793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737360" y="1901952"/>
            <a:ext cx="9418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Comunidade conectada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737360" y="2286000"/>
            <a:ext cx="9418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Pessoas oferecem e pedem recursos — ferramentas, saúde, livros, alimentos — por empréstimo, troca ou doação.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40080" y="3337560"/>
            <a:ext cx="822960" cy="822960"/>
          </a:xfrm>
          <a:prstGeom prst="ellipse">
            <a:avLst/>
          </a:prstGeom>
          <a:solidFill>
            <a:srgbClr val="0EA5E9"/>
          </a:solidFill>
          <a:ln/>
        </p:spPr>
      </p:sp>
      <p:pic>
        <p:nvPicPr>
          <p:cNvPr id="9" name="Image 1" descr="pptx_assets/m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590" y="3535070"/>
            <a:ext cx="427939" cy="427939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737360" y="3319272"/>
            <a:ext cx="9418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Geolocalização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1737360" y="3703320"/>
            <a:ext cx="9418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 aparecem no mapa por proximidade, facilitando encontros presenciais na vizinhança.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640080" y="4754880"/>
            <a:ext cx="822960" cy="822960"/>
          </a:xfrm>
          <a:prstGeom prst="ellipse">
            <a:avLst/>
          </a:prstGeom>
          <a:solidFill>
            <a:srgbClr val="0EA5E9"/>
          </a:solidFill>
          <a:ln/>
        </p:spPr>
      </p:sp>
      <p:pic>
        <p:nvPicPr>
          <p:cNvPr id="13" name="Image 2" descr="pptx_assets/messa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590" y="4952390"/>
            <a:ext cx="427939" cy="427939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737360" y="4736592"/>
            <a:ext cx="9418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ConectaIA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1737360" y="5120640"/>
            <a:ext cx="9418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Assistente de IA (Gemini) ajuda a melhorar descrições de ofertas e tira dúvidas dos usuários em tempo real.</a:t>
            </a:r>
            <a:endParaRPr lang="en-US" sz="1350" dirty="0"/>
          </a:p>
        </p:txBody>
      </p:sp>
      <p:sp>
        <p:nvSpPr>
          <p:cNvPr id="16" name="Text 11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HAS · Fase 5 · Cap. 1</a:t>
            </a:r>
            <a:endParaRPr lang="en-US" sz="1000" dirty="0"/>
          </a:p>
        </p:txBody>
      </p:sp>
      <p:sp>
        <p:nvSpPr>
          <p:cNvPr id="17" name="Text 12"/>
          <p:cNvSpPr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ponto de partida (Fase 4)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protótipo Flutter completo na interface — mas sem nenhum dado real por trás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39496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1945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já existia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651760"/>
            <a:ext cx="47548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475569"/>
                </a:solidFill>
              </a:rPr>
              <a:t>11 telas funcionais: onboarding, login, home, mapa, chat, chatbot, oferta, perfil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475569"/>
                </a:solidFill>
              </a:rPr>
              <a:t>Arquitetura com Provider/ChangeNotifier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475569"/>
                </a:solidFill>
              </a:rPr>
              <a:t>Integração com IA (Gemini) para chat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475569"/>
                </a:solidFill>
              </a:rPr>
              <a:t>UI consistente e responsiva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17920" y="1920240"/>
            <a:ext cx="539496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83680" y="21945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faltava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83680" y="2651760"/>
            <a:ext cx="47548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475569"/>
                </a:solidFill>
              </a:rPr>
              <a:t>Usuários, recursos e mensagens 100% mockados em memória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475569"/>
                </a:solidFill>
              </a:rPr>
              <a:t>Nada persistia — reiniciar o app apagava tudo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475569"/>
                </a:solidFill>
              </a:rPr>
              <a:t>Sem autenticação real, sem backend, sem banco de dados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475569"/>
                </a:solidFill>
              </a:rPr>
              <a:t>Botão "Publicar Oferta" nem sequer salvava o recurso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HAS · Fase 5 · Cap. 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Parte 1 — Escolha da Stack Mobile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394960" cy="4754880"/>
          </a:xfrm>
          <a:prstGeom prst="roundRect">
            <a:avLst>
              <a:gd name="adj" fmla="val 2308"/>
            </a:avLst>
          </a:prstGeom>
          <a:solidFill>
            <a:srgbClr val="F8FAFC"/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1645920"/>
            <a:ext cx="640080" cy="640080"/>
          </a:xfrm>
          <a:prstGeom prst="ellipse">
            <a:avLst/>
          </a:prstGeom>
          <a:solidFill>
            <a:srgbClr val="10B981"/>
          </a:solidFill>
          <a:ln/>
        </p:spPr>
      </p:sp>
      <p:pic>
        <p:nvPicPr>
          <p:cNvPr id="5" name="Image 0" descr="pptx_assets/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299" y="1799539"/>
            <a:ext cx="332842" cy="33284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91640" y="173736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Native (escolhido)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914400" y="2377440"/>
            <a:ext cx="475488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</a:rPr>
              <a:t>5 dos 13 capítulos da fase são só sobre React Native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</a:rPr>
              <a:t>Opção A do enunciado pede View/Text/Image/Button + React Navigation, ao pé da letra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</a:rPr>
              <a:t>Node.js já disponível; Expo permite montar e testar rápido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</a:rPr>
              <a:t>Hooks (useState/useEffect) e AsyncStorage seguindo os padrões dos Cap. 05 e 06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217920" y="1371600"/>
            <a:ext cx="5394960" cy="4754880"/>
          </a:xfrm>
          <a:prstGeom prst="roundRect">
            <a:avLst>
              <a:gd name="adj" fmla="val 2308"/>
            </a:avLst>
          </a:prstGeom>
          <a:solidFill>
            <a:srgbClr val="F1F5F9"/>
          </a:solidFill>
          <a:ln/>
        </p:spPr>
      </p:sp>
      <p:sp>
        <p:nvSpPr>
          <p:cNvPr id="9" name="Shape 6"/>
          <p:cNvSpPr/>
          <p:nvPr/>
        </p:nvSpPr>
        <p:spPr>
          <a:xfrm>
            <a:off x="6537960" y="1645920"/>
            <a:ext cx="640080" cy="640080"/>
          </a:xfrm>
          <a:prstGeom prst="ellipse">
            <a:avLst/>
          </a:prstGeom>
          <a:solidFill>
            <a:srgbClr val="94A3B8"/>
          </a:solidFill>
          <a:ln/>
        </p:spPr>
      </p:sp>
      <p:pic>
        <p:nvPicPr>
          <p:cNvPr id="10" name="Image 1" descr="pptx_assets/co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1579" y="179953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360920" y="173736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 (versão anterior)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7498080" y="2377440"/>
            <a:ext cx="393192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</a:rPr>
              <a:t>11 telas da Fase 4, já integradas ao backend real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</a:rPr>
              <a:t>Mantida no repositório como histórico do projeto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</a:rPr>
              <a:t>Não usa nenhum conteúdo específico ensinado nesta fase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</a:rPr>
              <a:t>Base de referência para comparar a migração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HAS · Fase 5 · Cap. 1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 Tecnológico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920240"/>
            <a:ext cx="3566160" cy="4023360"/>
          </a:xfrm>
          <a:prstGeom prst="roundRect">
            <a:avLst>
              <a:gd name="adj" fmla="val 3077"/>
            </a:avLst>
          </a:prstGeom>
          <a:solidFill>
            <a:srgbClr val="1E293B"/>
          </a:solidFill>
          <a:ln/>
        </p:spPr>
      </p:sp>
      <p:sp>
        <p:nvSpPr>
          <p:cNvPr id="4" name="Shape 2"/>
          <p:cNvSpPr/>
          <p:nvPr/>
        </p:nvSpPr>
        <p:spPr>
          <a:xfrm>
            <a:off x="1965960" y="2286000"/>
            <a:ext cx="914400" cy="914400"/>
          </a:xfrm>
          <a:prstGeom prst="ellipse">
            <a:avLst/>
          </a:prstGeom>
          <a:solidFill>
            <a:srgbClr val="10B981"/>
          </a:solidFill>
          <a:ln/>
        </p:spPr>
      </p:sp>
      <p:pic>
        <p:nvPicPr>
          <p:cNvPr id="5" name="Image 0" descr="pptx_assets/fl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5416" y="2505456"/>
            <a:ext cx="475488" cy="4754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34290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Fases 1–4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960120" y="3931920"/>
            <a:ext cx="29260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Escopo, arquitetura e protótipo Flutter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dados mockados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160520" y="356616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4A3B8"/>
                </a:solidFill>
              </a:rPr>
              <a:t>→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4526280" y="1920240"/>
            <a:ext cx="3566160" cy="4023360"/>
          </a:xfrm>
          <a:prstGeom prst="roundRect">
            <a:avLst>
              <a:gd name="adj" fmla="val 3077"/>
            </a:avLst>
          </a:prstGeom>
          <a:solidFill>
            <a:srgbClr val="1E293B"/>
          </a:solidFill>
          <a:ln/>
        </p:spPr>
      </p:sp>
      <p:sp>
        <p:nvSpPr>
          <p:cNvPr id="10" name="Shape 7"/>
          <p:cNvSpPr/>
          <p:nvPr/>
        </p:nvSpPr>
        <p:spPr>
          <a:xfrm>
            <a:off x="5852160" y="2286000"/>
            <a:ext cx="914400" cy="914400"/>
          </a:xfrm>
          <a:prstGeom prst="ellipse">
            <a:avLst/>
          </a:prstGeom>
          <a:solidFill>
            <a:srgbClr val="0EA5E9"/>
          </a:solidFill>
          <a:ln/>
        </p:spPr>
      </p:sp>
      <p:pic>
        <p:nvPicPr>
          <p:cNvPr id="11" name="Image 1" descr="pptx_assets/targ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1616" y="2505456"/>
            <a:ext cx="475488" cy="47548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09160" y="34290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5 · Cap. 1 (agora)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4846320" y="3931920"/>
            <a:ext cx="29260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Spring Boot real, integração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+ dashboard Angular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8046720" y="356616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4A3B8"/>
                </a:solidFill>
              </a:rPr>
              <a:t>→</a:t>
            </a:r>
            <a:endParaRPr lang="en-US" sz="2400" dirty="0"/>
          </a:p>
        </p:txBody>
      </p:sp>
      <p:sp>
        <p:nvSpPr>
          <p:cNvPr id="15" name="Shape 11"/>
          <p:cNvSpPr/>
          <p:nvPr/>
        </p:nvSpPr>
        <p:spPr>
          <a:xfrm>
            <a:off x="8412480" y="1920240"/>
            <a:ext cx="3566160" cy="4023360"/>
          </a:xfrm>
          <a:prstGeom prst="roundRect">
            <a:avLst>
              <a:gd name="adj" fmla="val 3077"/>
            </a:avLst>
          </a:prstGeom>
          <a:solidFill>
            <a:srgbClr val="1E293B"/>
          </a:solidFill>
          <a:ln/>
        </p:spPr>
      </p:sp>
      <p:sp>
        <p:nvSpPr>
          <p:cNvPr id="16" name="Shape 12"/>
          <p:cNvSpPr/>
          <p:nvPr/>
        </p:nvSpPr>
        <p:spPr>
          <a:xfrm>
            <a:off x="9738360" y="2286000"/>
            <a:ext cx="914400" cy="914400"/>
          </a:xfrm>
          <a:prstGeom prst="ellipse">
            <a:avLst/>
          </a:prstGeom>
          <a:solidFill>
            <a:srgbClr val="64748B"/>
          </a:solidFill>
          <a:ln/>
        </p:spPr>
      </p:sp>
      <p:pic>
        <p:nvPicPr>
          <p:cNvPr id="17" name="Image 2" descr="pptx_assets/refres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57816" y="2505456"/>
            <a:ext cx="475488" cy="47548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595360" y="34290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Próximas fases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8732520" y="3931920"/>
            <a:ext cx="29260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de imagens, sessão persistente,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de logística, deploy em nuvem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HAS · Fase 5 · Cap. 1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Parte 2 — Backend Spring Boot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21 · Spring Boot 4 · Firebase (Cap. 13) · API REST completa para o app e o dashboard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8FAFC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2148840"/>
            <a:ext cx="594360" cy="594360"/>
          </a:xfrm>
          <a:prstGeom prst="ellipse">
            <a:avLst/>
          </a:prstGeom>
          <a:solidFill>
            <a:srgbClr val="0EA5E9"/>
          </a:solidFill>
          <a:ln/>
        </p:spPr>
      </p:sp>
      <p:pic>
        <p:nvPicPr>
          <p:cNvPr id="6" name="Image 0" descr="pptx_assets/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2291486"/>
            <a:ext cx="309067" cy="30906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28346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Authentication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777240" y="324612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Cadastro/login reais; senha nunca fica no backend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297680" y="192024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8FAFC"/>
          </a:solidFill>
          <a:ln/>
        </p:spPr>
      </p:sp>
      <p:sp>
        <p:nvSpPr>
          <p:cNvPr id="10" name="Shape 7"/>
          <p:cNvSpPr/>
          <p:nvPr/>
        </p:nvSpPr>
        <p:spPr>
          <a:xfrm>
            <a:off x="4526280" y="2148840"/>
            <a:ext cx="594360" cy="594360"/>
          </a:xfrm>
          <a:prstGeom prst="ellipse">
            <a:avLst/>
          </a:prstGeom>
          <a:solidFill>
            <a:srgbClr val="0EA5E9"/>
          </a:solidFill>
          <a:ln/>
        </p:spPr>
      </p:sp>
      <p:pic>
        <p:nvPicPr>
          <p:cNvPr id="11" name="Image 1" descr="pptx_assets/databa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926" y="2291486"/>
            <a:ext cx="309067" cy="30906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26280" y="28346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Firestore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4526280" y="324612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NoSQL na nuvem, CRUD completo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8046720" y="192024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8FAFC"/>
          </a:solidFill>
          <a:ln/>
        </p:spPr>
      </p:sp>
      <p:sp>
        <p:nvSpPr>
          <p:cNvPr id="15" name="Shape 11"/>
          <p:cNvSpPr/>
          <p:nvPr/>
        </p:nvSpPr>
        <p:spPr>
          <a:xfrm>
            <a:off x="8275320" y="2148840"/>
            <a:ext cx="594360" cy="594360"/>
          </a:xfrm>
          <a:prstGeom prst="ellipse">
            <a:avLst/>
          </a:prstGeom>
          <a:solidFill>
            <a:srgbClr val="0EA5E9"/>
          </a:solidFill>
          <a:ln/>
        </p:spPr>
      </p:sp>
      <p:pic>
        <p:nvPicPr>
          <p:cNvPr id="16" name="Image 2" descr="pptx_assets/layer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966" y="2291486"/>
            <a:ext cx="309067" cy="309067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275320" y="28346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entidades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8275320" y="324612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User, Resource e Message, com DTOs dedicados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548640" y="406908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8FAFC"/>
          </a:solidFill>
          <a:ln/>
        </p:spPr>
      </p:sp>
      <p:sp>
        <p:nvSpPr>
          <p:cNvPr id="20" name="Shape 15"/>
          <p:cNvSpPr/>
          <p:nvPr/>
        </p:nvSpPr>
        <p:spPr>
          <a:xfrm>
            <a:off x="777240" y="4297680"/>
            <a:ext cx="594360" cy="594360"/>
          </a:xfrm>
          <a:prstGeom prst="ellipse">
            <a:avLst/>
          </a:prstGeom>
          <a:solidFill>
            <a:srgbClr val="0EA5E9"/>
          </a:solidFill>
          <a:ln/>
        </p:spPr>
      </p:sp>
      <p:pic>
        <p:nvPicPr>
          <p:cNvPr id="21" name="Image 3" descr="pptx_assets/serv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886" y="4440326"/>
            <a:ext cx="309067" cy="309067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77240" y="498348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 → Service → Repository</a:t>
            </a:r>
            <a:endParaRPr lang="en-US" sz="1350" dirty="0"/>
          </a:p>
        </p:txBody>
      </p:sp>
      <p:sp>
        <p:nvSpPr>
          <p:cNvPr id="23" name="Text 17"/>
          <p:cNvSpPr/>
          <p:nvPr/>
        </p:nvSpPr>
        <p:spPr>
          <a:xfrm>
            <a:off x="777240" y="539496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Camadas bem definidas, injeção por construtor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4297680" y="406908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8FAFC"/>
          </a:solidFill>
          <a:ln/>
        </p:spPr>
      </p:sp>
      <p:sp>
        <p:nvSpPr>
          <p:cNvPr id="25" name="Shape 19"/>
          <p:cNvSpPr/>
          <p:nvPr/>
        </p:nvSpPr>
        <p:spPr>
          <a:xfrm>
            <a:off x="4526280" y="4297680"/>
            <a:ext cx="594360" cy="594360"/>
          </a:xfrm>
          <a:prstGeom prst="ellipse">
            <a:avLst/>
          </a:prstGeom>
          <a:solidFill>
            <a:srgbClr val="0EA5E9"/>
          </a:solidFill>
          <a:ln/>
        </p:spPr>
      </p:sp>
      <p:pic>
        <p:nvPicPr>
          <p:cNvPr id="26" name="Image 4" descr="pptx_assets/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8926" y="4440326"/>
            <a:ext cx="309067" cy="309067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526280" y="498348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Tratamento de erros padrão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4526280" y="539496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/ 401 / 403 / 404 / 409 em formato único</a:t>
            </a:r>
            <a:endParaRPr 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8046720" y="406908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8FAFC"/>
          </a:solidFill>
          <a:ln/>
        </p:spPr>
      </p:sp>
      <p:sp>
        <p:nvSpPr>
          <p:cNvPr id="30" name="Shape 23"/>
          <p:cNvSpPr/>
          <p:nvPr/>
        </p:nvSpPr>
        <p:spPr>
          <a:xfrm>
            <a:off x="8275320" y="4297680"/>
            <a:ext cx="594360" cy="594360"/>
          </a:xfrm>
          <a:prstGeom prst="ellipse">
            <a:avLst/>
          </a:prstGeom>
          <a:solidFill>
            <a:srgbClr val="0EA5E9"/>
          </a:solidFill>
          <a:ln/>
        </p:spPr>
      </p:sp>
      <p:pic>
        <p:nvPicPr>
          <p:cNvPr id="31" name="Image 5" descr="pptx_assets/glob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7966" y="4440326"/>
            <a:ext cx="309067" cy="309067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275320" y="498348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Swagger / OpenAPI</a:t>
            </a:r>
            <a:endParaRPr lang="en-US" sz="1350" dirty="0"/>
          </a:p>
        </p:txBody>
      </p:sp>
      <p:sp>
        <p:nvSpPr>
          <p:cNvPr id="33" name="Text 25"/>
          <p:cNvSpPr/>
          <p:nvPr/>
        </p:nvSpPr>
        <p:spPr>
          <a:xfrm>
            <a:off x="8275320" y="539496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Documentação interativa em /swagger-ui</a:t>
            </a:r>
            <a:endParaRPr lang="en-US" sz="1100" dirty="0"/>
          </a:p>
        </p:txBody>
      </p:sp>
      <p:sp>
        <p:nvSpPr>
          <p:cNvPr id="34" name="Text 26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HAS · Fase 5 · Cap. 1</a:t>
            </a:r>
            <a:endParaRPr lang="en-US" sz="1000" dirty="0"/>
          </a:p>
        </p:txBody>
      </p:sp>
      <p:sp>
        <p:nvSpPr>
          <p:cNvPr id="35" name="Text 27"/>
          <p:cNvSpPr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 REST — Cobertura e Verificação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566160" cy="1554480"/>
          </a:xfrm>
          <a:prstGeom prst="roundRect">
            <a:avLst>
              <a:gd name="adj" fmla="val 5882"/>
            </a:avLst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63040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28600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 REST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43400" y="1371600"/>
            <a:ext cx="3566160" cy="1554480"/>
          </a:xfrm>
          <a:prstGeom prst="roundRect">
            <a:avLst>
              <a:gd name="adj" fmla="val 5882"/>
            </a:avLst>
          </a:prstGeom>
          <a:solidFill>
            <a:srgbClr val="0F172A"/>
          </a:solidFill>
          <a:ln/>
        </p:spPr>
      </p:sp>
      <p:sp>
        <p:nvSpPr>
          <p:cNvPr id="7" name="Text 5"/>
          <p:cNvSpPr/>
          <p:nvPr/>
        </p:nvSpPr>
        <p:spPr>
          <a:xfrm>
            <a:off x="4343400" y="1463040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4343400" y="228600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entidades persistidas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138160" y="1371600"/>
            <a:ext cx="3566160" cy="1554480"/>
          </a:xfrm>
          <a:prstGeom prst="roundRect">
            <a:avLst>
              <a:gd name="adj" fmla="val 5882"/>
            </a:avLst>
          </a:prstGeom>
          <a:solidFill>
            <a:srgbClr val="0F172A"/>
          </a:solidFill>
          <a:ln/>
        </p:spPr>
      </p:sp>
      <p:sp>
        <p:nvSpPr>
          <p:cNvPr id="10" name="Text 8"/>
          <p:cNvSpPr/>
          <p:nvPr/>
        </p:nvSpPr>
        <p:spPr>
          <a:xfrm>
            <a:off x="8138160" y="1463040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8138160" y="228600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testado via curl ponta a ponta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32004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rotas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48640" y="3611880"/>
            <a:ext cx="54864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</a:rPr>
              <a:t>POST /api/auth/register, /api/auth/login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</a:rPr>
              <a:t>GET/PUT /api/users/me · GET/DELETE /api/users (ADMIN)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</a:rPr>
              <a:t>GET/POST/PUT/DELETE /api/resources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</a:rPr>
              <a:t>GET/POST /api/messages, /api/messages/conversations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</a:rPr>
              <a:t>GET /api/admin/stats (ADMIN)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492240" y="32004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Verificado de verdade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92240" y="3611880"/>
            <a:ext cx="512064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</a:rPr>
              <a:t>Servidor compilado e rodando localmente (./mvnw spring-boot:run)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</a:rPr>
              <a:t>Cadastro real no Firebase Auth + login com as mesmas credenciais, em chamadas separadas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</a:rPr>
              <a:t>Regras de permissão dono-vs-admin conferidas na prática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</a:rPr>
              <a:t>Bug real no SDK do Firebase ("Not in GZIP format") encontrado e contornado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HAS · Fase 5 · Cap. 1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Parte 3 — Dashboard Angular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administrativo consumindo a mesma API do app mobile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777240" cy="777240"/>
          </a:xfrm>
          <a:prstGeom prst="ellipse">
            <a:avLst/>
          </a:prstGeom>
          <a:solidFill>
            <a:srgbClr val="10B981"/>
          </a:solidFill>
          <a:ln/>
        </p:spPr>
      </p:sp>
      <p:pic>
        <p:nvPicPr>
          <p:cNvPr id="5" name="Image 0" descr="pptx_assets/layo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6618" y="2152498"/>
            <a:ext cx="404165" cy="40416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91640" y="19659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691640" y="23317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/home (pública), /login e /admin (protegida por AuthGuard)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0080" y="3063240"/>
            <a:ext cx="777240" cy="777240"/>
          </a:xfrm>
          <a:prstGeom prst="ellipse">
            <a:avLst/>
          </a:prstGeom>
          <a:solidFill>
            <a:srgbClr val="10B981"/>
          </a:solidFill>
          <a:ln/>
        </p:spPr>
      </p:sp>
      <p:pic>
        <p:nvPicPr>
          <p:cNvPr id="9" name="Image 1" descr="pptx_assets/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618" y="3249778"/>
            <a:ext cx="404165" cy="404165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691640" y="306324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HttpClient + Interceptor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1691640" y="34290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Anexa automaticamente o token JWT em toda chamada à API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40080" y="4160520"/>
            <a:ext cx="777240" cy="777240"/>
          </a:xfrm>
          <a:prstGeom prst="ellipse">
            <a:avLst/>
          </a:prstGeom>
          <a:solidFill>
            <a:srgbClr val="10B981"/>
          </a:solidFill>
          <a:ln/>
        </p:spPr>
      </p:sp>
      <p:pic>
        <p:nvPicPr>
          <p:cNvPr id="13" name="Image 2" descr="pptx_assets/cod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618" y="4347058"/>
            <a:ext cx="404165" cy="404165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691640" y="416052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formas de binding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1691640" y="452628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 }} interpolação · [ ] property · ( ) evento · [( )] ngModel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40080" y="5257800"/>
            <a:ext cx="777240" cy="777240"/>
          </a:xfrm>
          <a:prstGeom prst="ellipse">
            <a:avLst/>
          </a:prstGeom>
          <a:solidFill>
            <a:srgbClr val="10B981"/>
          </a:solidFill>
          <a:ln/>
        </p:spPr>
      </p:sp>
      <p:pic>
        <p:nvPicPr>
          <p:cNvPr id="17" name="Image 3" descr="pptx_asset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618" y="5444338"/>
            <a:ext cx="404165" cy="404165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691640" y="525780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*ngIf / *ngFor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1691640" y="56235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 de carregamento/erro/vazio e listas de usuários e recursos</a:t>
            </a:r>
            <a:endParaRPr lang="en-US" sz="1250" dirty="0"/>
          </a:p>
        </p:txBody>
      </p:sp>
      <p:sp>
        <p:nvSpPr>
          <p:cNvPr id="20" name="Text 14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HAS · Fase 5 · Cap. 1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Integração Ponta a Ponta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três aplicações compartilham o mesmo contrato de API e os mesmos dados reais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822960" y="2377440"/>
            <a:ext cx="3200400" cy="3108960"/>
          </a:xfrm>
          <a:prstGeom prst="roundRect">
            <a:avLst>
              <a:gd name="adj" fmla="val 3529"/>
            </a:avLst>
          </a:prstGeom>
          <a:solidFill>
            <a:srgbClr val="1E293B"/>
          </a:solidFill>
          <a:ln/>
        </p:spPr>
      </p:sp>
      <p:sp>
        <p:nvSpPr>
          <p:cNvPr id="5" name="Shape 3"/>
          <p:cNvSpPr/>
          <p:nvPr/>
        </p:nvSpPr>
        <p:spPr>
          <a:xfrm>
            <a:off x="1965960" y="2697480"/>
            <a:ext cx="914400" cy="914400"/>
          </a:xfrm>
          <a:prstGeom prst="ellipse">
            <a:avLst/>
          </a:prstGeom>
          <a:solidFill>
            <a:srgbClr val="0EA5E9"/>
          </a:solidFill>
          <a:ln/>
        </p:spPr>
      </p:sp>
      <p:pic>
        <p:nvPicPr>
          <p:cNvPr id="6" name="Image 0" descr="pptx_assets/smartpho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5416" y="2916936"/>
            <a:ext cx="475488" cy="4754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05840" y="379476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React Native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097280" y="4251960"/>
            <a:ext cx="2651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Login, ofertas e chat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consumindo a API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4160520" y="35661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0B981"/>
                </a:solidFill>
              </a:rPr>
              <a:t>↔</a:t>
            </a:r>
            <a:endParaRPr lang="en-US" sz="2600" dirty="0"/>
          </a:p>
        </p:txBody>
      </p:sp>
      <p:sp>
        <p:nvSpPr>
          <p:cNvPr id="10" name="Shape 7"/>
          <p:cNvSpPr/>
          <p:nvPr/>
        </p:nvSpPr>
        <p:spPr>
          <a:xfrm>
            <a:off x="4709160" y="2377440"/>
            <a:ext cx="3200400" cy="3108960"/>
          </a:xfrm>
          <a:prstGeom prst="roundRect">
            <a:avLst>
              <a:gd name="adj" fmla="val 3529"/>
            </a:avLst>
          </a:prstGeom>
          <a:solidFill>
            <a:srgbClr val="1E293B"/>
          </a:solidFill>
          <a:ln/>
        </p:spPr>
      </p:sp>
      <p:sp>
        <p:nvSpPr>
          <p:cNvPr id="11" name="Shape 8"/>
          <p:cNvSpPr/>
          <p:nvPr/>
        </p:nvSpPr>
        <p:spPr>
          <a:xfrm>
            <a:off x="5852160" y="2697480"/>
            <a:ext cx="914400" cy="914400"/>
          </a:xfrm>
          <a:prstGeom prst="ellipse">
            <a:avLst/>
          </a:prstGeom>
          <a:solidFill>
            <a:srgbClr val="0EA5E9"/>
          </a:solidFill>
          <a:ln/>
        </p:spPr>
      </p:sp>
      <p:pic>
        <p:nvPicPr>
          <p:cNvPr id="12" name="Image 1" descr="pptx_assets/ser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1616" y="2916936"/>
            <a:ext cx="475488" cy="47548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892040" y="379476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Spring Boot + Firebase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4983480" y="4251960"/>
            <a:ext cx="2651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Autenticação, regras de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negócio e persistência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8046720" y="35661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0B981"/>
                </a:solidFill>
              </a:rPr>
              <a:t>↔</a:t>
            </a:r>
            <a:endParaRPr lang="en-US" sz="2600" dirty="0"/>
          </a:p>
        </p:txBody>
      </p:sp>
      <p:sp>
        <p:nvSpPr>
          <p:cNvPr id="16" name="Shape 12"/>
          <p:cNvSpPr/>
          <p:nvPr/>
        </p:nvSpPr>
        <p:spPr>
          <a:xfrm>
            <a:off x="8595360" y="2377440"/>
            <a:ext cx="3200400" cy="3108960"/>
          </a:xfrm>
          <a:prstGeom prst="roundRect">
            <a:avLst>
              <a:gd name="adj" fmla="val 3529"/>
            </a:avLst>
          </a:prstGeom>
          <a:solidFill>
            <a:srgbClr val="1E293B"/>
          </a:solidFill>
          <a:ln/>
        </p:spPr>
      </p:sp>
      <p:sp>
        <p:nvSpPr>
          <p:cNvPr id="17" name="Shape 13"/>
          <p:cNvSpPr/>
          <p:nvPr/>
        </p:nvSpPr>
        <p:spPr>
          <a:xfrm>
            <a:off x="9738360" y="2697480"/>
            <a:ext cx="914400" cy="914400"/>
          </a:xfrm>
          <a:prstGeom prst="ellipse">
            <a:avLst/>
          </a:prstGeom>
          <a:solidFill>
            <a:srgbClr val="0EA5E9"/>
          </a:solidFill>
          <a:ln/>
        </p:spPr>
      </p:sp>
      <p:pic>
        <p:nvPicPr>
          <p:cNvPr id="18" name="Image 2" descr="pptx_assets/layou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57816" y="2916936"/>
            <a:ext cx="475488" cy="47548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778240" y="379476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Angular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8869680" y="4251960"/>
            <a:ext cx="2651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 e estatísticas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tempo real</a:t>
            </a:r>
            <a:endParaRPr lang="en-US" sz="1150" dirty="0"/>
          </a:p>
        </p:txBody>
      </p:sp>
      <p:sp>
        <p:nvSpPr>
          <p:cNvPr id="21" name="Text 16"/>
          <p:cNvSpPr/>
          <p:nvPr/>
        </p:nvSpPr>
        <p:spPr>
          <a:xfrm>
            <a:off x="822960" y="580644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Evidência: um recurso renomeado via API apareceu, ao vivo, atualizado no dashboard Angular.</a:t>
            </a:r>
            <a:endParaRPr lang="en-US" sz="1250" dirty="0"/>
          </a:p>
        </p:txBody>
      </p:sp>
      <p:sp>
        <p:nvSpPr>
          <p:cNvPr id="22" name="Text 17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HAS · Fase 5 · Cap. 1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Conclusão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10789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Smart HAS saiu de um protótipo Flutter com dados mockados para um sistema full-stack real e alinhado ao conteúdo da fase: app React Native, backend Spring Boot com Firebase (Authentication + Firestore), e dashboard Angular — todos integrados pelo mesmo contrato de API.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651760"/>
            <a:ext cx="10789920" cy="1920240"/>
          </a:xfrm>
          <a:prstGeom prst="roundRect">
            <a:avLst>
              <a:gd name="adj" fmla="val 4762"/>
            </a:avLst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28346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Entregáveis desta atividade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68680" y="3246120"/>
            <a:ext cx="10058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</a:rPr>
              <a:t>Código-fonte: GitHub — [link a inserir]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</a:rPr>
              <a:t>Vídeo de demonstração (YouTube não listado) — [link a inserir]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</a:rPr>
              <a:t>Relatório completo em PDF (documento em anexo)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493776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Obrigado!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48640" y="54864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Yuri Sousa · RM 556163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HAS · Fase 5 · Cap. 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2026-08-14T01:36:15Z</dcterms:created>
  <dcterms:modified xsi:type="dcterms:W3CDTF">2026-08-14T01:36:15Z</dcterms:modified>
</cp:coreProperties>
</file>