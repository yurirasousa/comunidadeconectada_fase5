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8.png"/><Relationship Id="rId10" Type="http://schemas.openxmlformats.org/officeDocument/2006/relationships/image" Target="../media/image-8-8.png"/><Relationship Id="rId11" Type="http://schemas.openxmlformats.org/officeDocument/2006/relationships/image" Target="../media/image-8-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4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mock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56" y="994317"/>
            <a:ext cx="2395728" cy="4869366"/>
          </a:xfrm>
          <a:prstGeom prst="rect">
            <a:avLst/>
          </a:prstGeom>
          <a:effectLst>
            <a:outerShdw sx="100000" sy="100000" kx="0" ky="0" algn="bl" rotWithShape="0" blurRad="330200" dist="101600" dir="5400000">
              <a:srgbClr val="000000">
                <a:alpha val="34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566928" y="1170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FIAP · FASE 5 · CAPÍTULO 1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148132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Comunidade Conectada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566928" y="2432304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26151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— Mobile Hybrid App e a Sociedade 5.0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66928" y="31089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um protótipo Flutter com dados mockados a um sistema full-stack real: app React Native, backend Spring Boot com Firebase e painel administrativo Angular — os três integrados pelo mesmo contrato de API.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66928" y="4224528"/>
            <a:ext cx="2045513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2" descr="pptx_assets/ic_smartphon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329684"/>
            <a:ext cx="192024" cy="192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" y="4224528"/>
            <a:ext cx="158831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+ Expo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58745" y="4224528"/>
            <a:ext cx="2273198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3" descr="pptx_assets/ic_server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905" y="4329684"/>
            <a:ext cx="192024" cy="1920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42793" y="4224528"/>
            <a:ext cx="181599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+ Firebase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178247" y="4224528"/>
            <a:ext cx="113477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4" descr="pptx_assets/ic_layout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407" y="4329684"/>
            <a:ext cx="192024" cy="1920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62295" y="4224528"/>
            <a:ext cx="6775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66928" y="5074920"/>
            <a:ext cx="36576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9" name="Image 5" descr="pptx_assets/avatar_yu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074920"/>
            <a:ext cx="658368" cy="658368"/>
          </a:xfrm>
          <a:prstGeom prst="ellipse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72768" y="5084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Yuri Sousa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572768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556163 · FIAP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O PRODUTO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é o Smart HAS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app híbrido de economia colaborativa para a Sociedade 5.0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353263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handHeart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Comunidade conectada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298399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Pessoas oferecem e pedem recursos entre si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Ferramentas, saúde, livros, alimentos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empréstimo, troca ou doação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328160" y="1938528"/>
            <a:ext cx="353263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90320000" dist="322580000" dir="324000000000">
              <a:srgbClr val="0F172A">
                <a:alpha val="80000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65904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mapPin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Geolocalização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43200"/>
            <a:ext cx="298399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aparecem no mapa por proximidade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 encontros presenciais na vizinhança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interativo real (OpenStreetMap)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089392" y="1938528"/>
            <a:ext cx="353263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6387064000000" dist="4096766000000" dir="19440000000000000">
              <a:srgbClr val="0F172A">
                <a:alpha val="8000000000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27136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bot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80879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ConectaIA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43200"/>
            <a:ext cx="298399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Assistente de IA integrado ao app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Ajuda a melhorar descrições de ofertas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Tira dúvidas dos usuários em tempo real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66928" y="4443984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3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77824" y="4754880"/>
            <a:ext cx="676656" cy="676656"/>
          </a:xfrm>
          <a:prstGeom prst="roundRect">
            <a:avLst>
              <a:gd name="adj" fmla="val 7432"/>
            </a:avLst>
          </a:prstGeom>
          <a:solidFill>
            <a:srgbClr val="1E293B"/>
          </a:solidFill>
          <a:ln/>
        </p:spPr>
      </p:sp>
      <p:pic>
        <p:nvPicPr>
          <p:cNvPr id="25" name="Image 5" descr="pptx_assets/ic_sparkles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55" y="4930811"/>
            <a:ext cx="324795" cy="32479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737360" y="4718304"/>
            <a:ext cx="9500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Sociedade 5.0 na prática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737360" y="5047488"/>
            <a:ext cx="9500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 usada para resolver um problema social concreto: aproximar vizinhos que têm recursos ociosos de quem precisa deles — com dados reais, não simulados.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0" name="Text 22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| CONTEXTO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ponto de partida (Fase 4)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protótipo Flutter completo na interface — mas sem nenhum dado real por trás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53903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8115712800000000" dist="52028928200000000" dir="1.1664e+21">
              <a:srgbClr val="0F172A">
                <a:alpha val="800000000000000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0" name="Image 2" descr="pptx_assets/ic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já existia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484174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telas funcionais: onboarding, login, home, mapa, chat, chatbot, oferta, perfil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com Provider / ChangeNotifier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IA (Gemini) para o chat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consistente e responsiva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31636" y="1938528"/>
            <a:ext cx="53903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660767388140000000000" dir="6.9984e+25">
              <a:srgbClr val="0F172A">
                <a:alpha val="8e+23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69380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15" name="Image 3" descr="pptx_assets/ic_alert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987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36308" y="2176272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faltava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505956" y="2743200"/>
            <a:ext cx="484174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Usuários, recursos e mensagens 100% mockados em memória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persistia — reiniciar o app apagava tudo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autenticação real, sem backend, sem banco de dados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Botão "Publicar Oferta" nem sequer salvava o recurso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66928" y="4572000"/>
            <a:ext cx="11055096" cy="1042416"/>
          </a:xfrm>
          <a:prstGeom prst="roundRect">
            <a:avLst>
              <a:gd name="adj" fmla="val 877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41248" y="4828032"/>
            <a:ext cx="530352" cy="530352"/>
          </a:xfrm>
          <a:prstGeom prst="roundRect">
            <a:avLst>
              <a:gd name="adj" fmla="val 9483"/>
            </a:avLst>
          </a:prstGeom>
          <a:solidFill>
            <a:srgbClr val="FEF3C7"/>
          </a:solidFill>
          <a:ln/>
        </p:spPr>
      </p:sp>
      <p:pic>
        <p:nvPicPr>
          <p:cNvPr id="20" name="Image 4" descr="pptx_assets/ic_target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40" y="4965924"/>
            <a:ext cx="254569" cy="2545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17904" y="4773168"/>
            <a:ext cx="9774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desafio desta fase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517904" y="5065776"/>
            <a:ext cx="9774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Transformar a interface pronta em um sistema real — persistência, autenticação e uma API que o app e o painel administrativo pudessem consumir de verdade.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25" name="Text 18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Escolha da stack mobile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não foi escolha de gosto: foi o que alinha a entrega ao conteúdo ensinado na fase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5390388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3566983317512e+25" dist="8.391745829378e+24" dir="4.19904e+30">
              <a:srgbClr val="0F172A">
                <a:alpha val="8e+28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smartphon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Native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48417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dos 13 capítulos da fase são só sobre React Native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Opção A do enunciado pede View / Text / Image / Button + React Navigation, ao pé da letra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já disponível; Expo permite montar e testar rápido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(useState / useEffect) e AsyncStorage seguindo os Cap. 05 e 06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658868" y="2231136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9"/>
          <p:cNvSpPr/>
          <p:nvPr/>
        </p:nvSpPr>
        <p:spPr>
          <a:xfrm>
            <a:off x="4658868" y="2231136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ESCOLHIDO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231636" y="1938528"/>
            <a:ext cx="5390388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2630068813240236e+29" dist="1.0657517203310059e+29" dir="2.519424e+35">
              <a:srgbClr val="0F172A">
                <a:alpha val="8e+33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9380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pic>
        <p:nvPicPr>
          <p:cNvPr id="17" name="Image 3" descr="pptx_assets/ic_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987" y="22808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36308" y="2176272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Flutter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505956" y="2743200"/>
            <a:ext cx="48417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telas da Fase 4, já integradas ao backend real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Mantido no repositório como histórico do projeto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exercita nenhum conteúdo específico desta fase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 de base de referência para comparar a migração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921240" y="223113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1" name="Text 15"/>
          <p:cNvSpPr/>
          <p:nvPr/>
        </p:nvSpPr>
        <p:spPr>
          <a:xfrm>
            <a:off x="9921240" y="22311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VERSÃO ANTERIOR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875020" y="2843784"/>
            <a:ext cx="438912" cy="438912"/>
          </a:xfrm>
          <a:prstGeom prst="ellipse">
            <a:avLst/>
          </a:prstGeom>
          <a:solidFill>
            <a:srgbClr val="0F172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.41401873928151e+33" dist="1.3535046848203775e+33" dir="1.5116544e+40">
              <a:srgbClr val="0F172A">
                <a:alpha val="8e+38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875020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553712"/>
            <a:ext cx="11055096" cy="1060704"/>
          </a:xfrm>
          <a:prstGeom prst="roundRect">
            <a:avLst>
              <a:gd name="adj" fmla="val 86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2258060000" dist="483870000" dir="324000000000">
              <a:srgbClr val="0F172A">
                <a:alpha val="13000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77824" y="4736592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5/13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2139696" y="4809744"/>
            <a:ext cx="18288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1"/>
          <p:cNvSpPr/>
          <p:nvPr/>
        </p:nvSpPr>
        <p:spPr>
          <a:xfrm>
            <a:off x="2340864" y="4773168"/>
            <a:ext cx="8951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capítulos da Fase 5 são dedicados a React Native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340864" y="5084064"/>
            <a:ext cx="8951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Migrar o app foi a forma de aplicar de fato o conteúdo da fase, em vez de apenas manter o que já funcionava em Flutter.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1" name="Text 25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| TRAJETÓRIA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 tecnológico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projeto estava, o que esta entrega resolve e o que fica para as próximas fases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2257044" y="2103120"/>
            <a:ext cx="7674864" cy="320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5"/>
          <p:cNvSpPr/>
          <p:nvPr/>
        </p:nvSpPr>
        <p:spPr>
          <a:xfrm>
            <a:off x="2257044" y="2103120"/>
            <a:ext cx="3837432" cy="320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6"/>
          <p:cNvSpPr/>
          <p:nvPr/>
        </p:nvSpPr>
        <p:spPr>
          <a:xfrm>
            <a:off x="2019300" y="1865376"/>
            <a:ext cx="475488" cy="475488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6.875803798887518e+37" dist="1.7189509497218795e+37" dir="9.069926400000001e+44">
              <a:srgbClr val="0F172A">
                <a:alpha val="8e+43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01930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2487168"/>
            <a:ext cx="3380232" cy="2340864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732270824587148e+41" dist="2.183067706146787e+41" dir="5.44195584e+49">
              <a:srgbClr val="0F172A">
                <a:alpha val="8e+48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2743200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4" name="Image 2" descr="pptx_assets/ic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2847807"/>
            <a:ext cx="193121" cy="19312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465832" y="2798064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6" name="Text 11"/>
          <p:cNvSpPr/>
          <p:nvPr/>
        </p:nvSpPr>
        <p:spPr>
          <a:xfrm>
            <a:off x="2465832" y="2798064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CONCLUÍDO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22960" y="3273552"/>
            <a:ext cx="2868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Fases 1–4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" y="3712464"/>
            <a:ext cx="283159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 e modelagem do problema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Protótipo Flutter com 11 telas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mockados em memória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56732" y="1865376"/>
            <a:ext cx="475488" cy="475488"/>
          </a:xfrm>
          <a:prstGeom prst="ellipse">
            <a:avLst/>
          </a:prstGeom>
          <a:solidFill>
            <a:srgbClr val="0EA5E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089983947225678e+46" dist="2.7724959868064195e+45" dir="3.2651735040000005e+54">
              <a:srgbClr val="0F172A">
                <a:alpha val="8e+53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856732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404360" y="2487168"/>
            <a:ext cx="3380232" cy="2340864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08427961297661e+50" dist="3.5210699032441527e+49" dir="1.9591041024000004e+59">
              <a:srgbClr val="0F172A">
                <a:alpha val="8e+58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0392" y="2743200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23" name="Image 3" descr="pptx_assets/ic_zap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99" y="2847807"/>
            <a:ext cx="193121" cy="193121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303264" y="2798064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25" name="Text 19"/>
          <p:cNvSpPr/>
          <p:nvPr/>
        </p:nvSpPr>
        <p:spPr>
          <a:xfrm>
            <a:off x="6303264" y="2798064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ESTA ENTREGA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4660392" y="3273552"/>
            <a:ext cx="2868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 5 · Cap. 1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678680" y="3712464"/>
            <a:ext cx="283159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Spring Boot + Firebase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migrado para React Native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administrativo Angular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94164" y="1865376"/>
            <a:ext cx="475488" cy="475488"/>
          </a:xfrm>
          <a:prstGeom prst="ellipse">
            <a:avLst/>
          </a:prstGeom>
          <a:solidFill>
            <a:srgbClr val="94A3B8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887035108480297e+54" dist="4.471758777120074e+53" dir="1.1754624614400003e+64">
              <a:srgbClr val="0F172A">
                <a:alpha val="7.999999999999999e+63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694164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8241792" y="2487168"/>
            <a:ext cx="3380232" cy="2340864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2716534587769977e+58" dist="5.679133646942494e+57" dir="7.052774768640002e+68">
              <a:srgbClr val="0F172A">
                <a:alpha val="7.999999999999999e+68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497824" y="2743200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pic>
        <p:nvPicPr>
          <p:cNvPr id="32" name="Image 4" descr="pptx_assets/ic_flag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431" y="2847807"/>
            <a:ext cx="193121" cy="193121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0140696" y="2798064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4" name="Text 27"/>
          <p:cNvSpPr/>
          <p:nvPr/>
        </p:nvSpPr>
        <p:spPr>
          <a:xfrm>
            <a:off x="10140696" y="2798064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PRÓXIMAS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8497824" y="3273552"/>
            <a:ext cx="2868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Fases seguintes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8516112" y="3712464"/>
            <a:ext cx="283159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real de imagens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push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Sessão persistente no app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566928" y="5138928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28677362000000" dist="6145149000000" dir="19440000000000000">
              <a:srgbClr val="0F172A">
                <a:alpha val="13000000000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41248" y="5358384"/>
            <a:ext cx="475488" cy="475488"/>
          </a:xfrm>
          <a:prstGeom prst="roundRect">
            <a:avLst>
              <a:gd name="adj" fmla="val 10577"/>
            </a:avLst>
          </a:prstGeom>
          <a:solidFill>
            <a:srgbClr val="1E293B"/>
          </a:solidFill>
          <a:ln/>
        </p:spPr>
      </p:sp>
      <p:pic>
        <p:nvPicPr>
          <p:cNvPr id="39" name="Image 5" descr="pptx_assets/ic_activity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875" y="5482011"/>
            <a:ext cx="228234" cy="22823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499616" y="5138928"/>
            <a:ext cx="9774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muda nesta entrega: os dados deixam de ser simulados — cada tela do app passa a ler e gravar no Firestore através da API.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3" name="Text 35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app em React Native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telas da Fase 4 reconstruídas com componentes nativos — rodando contra a API real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2" descr="pptx_assets/mock_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75104"/>
            <a:ext cx="1481328" cy="3010829"/>
          </a:xfrm>
          <a:prstGeom prst="rect">
            <a:avLst/>
          </a:prstGeom>
          <a:effectLst>
            <a:outerShdw sx="100000" sy="100000" kx="0" ky="0" algn="bl" rotWithShape="0" blurRad="364202497400000000" dist="78043392300000000" dir="1.1664e+21">
              <a:srgbClr val="0F172A">
                <a:alpha val="1300000000000000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475488" y="5095661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Login real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75488" y="5315117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</a:t>
            </a:r>
            <a:endParaRPr lang="en-US" sz="950" dirty="0"/>
          </a:p>
        </p:txBody>
      </p:sp>
      <p:pic>
        <p:nvPicPr>
          <p:cNvPr id="11" name="Image 3" descr="pptx_assets/mock_loj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1975104"/>
            <a:ext cx="1481328" cy="3010829"/>
          </a:xfrm>
          <a:prstGeom prst="rect">
            <a:avLst/>
          </a:prstGeom>
          <a:effectLst>
            <a:outerShdw sx="100000" sy="100000" kx="0" ky="0" algn="bl" rotWithShape="0" blurRad="4.62537171698e+21" dist="991151082210000000000" dir="6.9984e+25">
              <a:srgbClr val="0F172A">
                <a:alpha val="1.3e+24"/>
              </a:srgbClr>
            </a:outerShdw>
          </a:effectLst>
        </p:spPr>
      </p:pic>
      <p:sp>
        <p:nvSpPr>
          <p:cNvPr id="12" name="Text 6"/>
          <p:cNvSpPr/>
          <p:nvPr/>
        </p:nvSpPr>
        <p:spPr>
          <a:xfrm>
            <a:off x="2176272" y="5095661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2176272" y="5315117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da API</a:t>
            </a:r>
            <a:endParaRPr lang="en-US" sz="950" dirty="0"/>
          </a:p>
        </p:txBody>
      </p:sp>
      <p:pic>
        <p:nvPicPr>
          <p:cNvPr id="14" name="Image 4" descr="pptx_assets/mock_map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496" y="1975104"/>
            <a:ext cx="1481328" cy="3010829"/>
          </a:xfrm>
          <a:prstGeom prst="rect">
            <a:avLst/>
          </a:prstGeom>
          <a:effectLst>
            <a:outerShdw sx="100000" sy="100000" kx="0" ky="0" algn="bl" rotWithShape="0" blurRad="5.8742220805646e+25" dist="1.2587618744067e+25" dir="4.19904e+30">
              <a:srgbClr val="0F172A">
                <a:alpha val="1.3e+29"/>
              </a:srgbClr>
            </a:outerShdw>
          </a:effectLst>
        </p:spPr>
      </p:pic>
      <p:sp>
        <p:nvSpPr>
          <p:cNvPr id="15" name="Text 8"/>
          <p:cNvSpPr/>
          <p:nvPr/>
        </p:nvSpPr>
        <p:spPr>
          <a:xfrm>
            <a:off x="3877056" y="5095661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Mapa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3877056" y="5315117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 + OSM</a:t>
            </a:r>
            <a:endParaRPr lang="en-US" sz="950" dirty="0"/>
          </a:p>
        </p:txBody>
      </p:sp>
      <p:pic>
        <p:nvPicPr>
          <p:cNvPr id="17" name="Image 5" descr="pptx_assets/mock_chatI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975104"/>
            <a:ext cx="1481328" cy="3010829"/>
          </a:xfrm>
          <a:prstGeom prst="rect">
            <a:avLst/>
          </a:prstGeom>
          <a:effectLst>
            <a:outerShdw sx="100000" sy="100000" kx="0" ky="0" algn="bl" rotWithShape="0" blurRad="7.460262042317042e+29" dist="1.598627580496509e+29" dir="2.519424e+35">
              <a:srgbClr val="0F172A">
                <a:alpha val="1.3e+34"/>
              </a:srgbClr>
            </a:outerShdw>
          </a:effectLst>
        </p:spPr>
      </p:pic>
      <p:sp>
        <p:nvSpPr>
          <p:cNvPr id="18" name="Text 10"/>
          <p:cNvSpPr/>
          <p:nvPr/>
        </p:nvSpPr>
        <p:spPr>
          <a:xfrm>
            <a:off x="5577840" y="5095661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ConectaIA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5577840" y="5315117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7461504" y="1975104"/>
            <a:ext cx="4160520" cy="3577757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8849998926467873e+62" dist="7.212499731616968e+61" dir="4.2316648611840007e+73">
              <a:srgbClr val="0F172A">
                <a:alpha val="7.999999999999999e+73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7735824" y="22128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foi aplicado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7735824" y="2560320"/>
            <a:ext cx="365760" cy="365760"/>
          </a:xfrm>
          <a:prstGeom prst="roundRect">
            <a:avLst>
              <a:gd name="adj" fmla="val 13750"/>
            </a:avLst>
          </a:prstGeom>
          <a:solidFill>
            <a:srgbClr val="E0F2FE"/>
          </a:solidFill>
          <a:ln/>
        </p:spPr>
      </p:sp>
      <p:pic>
        <p:nvPicPr>
          <p:cNvPr id="23" name="Image 6" descr="pptx_assets/ic_smartphone_sk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0922" y="2655418"/>
            <a:ext cx="175565" cy="17556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542032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Componentes nativos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8211312" y="277977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View, Text, Image, Button e FlatList — Opção A do enunciado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735824" y="3291840"/>
            <a:ext cx="365760" cy="365760"/>
          </a:xfrm>
          <a:prstGeom prst="roundRect">
            <a:avLst>
              <a:gd name="adj" fmla="val 13750"/>
            </a:avLst>
          </a:prstGeom>
          <a:solidFill>
            <a:srgbClr val="E0E7FF"/>
          </a:solidFill>
          <a:ln/>
        </p:spPr>
      </p:sp>
      <p:pic>
        <p:nvPicPr>
          <p:cNvPr id="27" name="Image 7" descr="pptx_assets/ic_route_indi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0922" y="3386938"/>
            <a:ext cx="175565" cy="17556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11312" y="3273552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Navigation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8211312" y="351129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+ Bottom Tabs entre as 8 telas do app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7735824" y="4023360"/>
            <a:ext cx="365760" cy="365760"/>
          </a:xfrm>
          <a:prstGeom prst="roundRect">
            <a:avLst>
              <a:gd name="adj" fmla="val 13750"/>
            </a:avLst>
          </a:prstGeom>
          <a:solidFill>
            <a:srgbClr val="D1FAE5"/>
          </a:solidFill>
          <a:ln/>
        </p:spPr>
      </p:sp>
      <p:pic>
        <p:nvPicPr>
          <p:cNvPr id="31" name="Image 8" descr="pptx_assets/ic_refresh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922" y="4118458"/>
            <a:ext cx="175565" cy="17556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11312" y="4005072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Hooks de estado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8211312" y="424281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 e useEffect consumindo a API (Cap. 05 e 06)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7735824" y="4754880"/>
            <a:ext cx="365760" cy="365760"/>
          </a:xfrm>
          <a:prstGeom prst="roundRect">
            <a:avLst>
              <a:gd name="adj" fmla="val 13750"/>
            </a:avLst>
          </a:prstGeom>
          <a:solidFill>
            <a:srgbClr val="FEF3C7"/>
          </a:solidFill>
          <a:ln/>
        </p:spPr>
      </p:sp>
      <p:pic>
        <p:nvPicPr>
          <p:cNvPr id="35" name="Image 9" descr="pptx_assets/ic_database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0922" y="4849978"/>
            <a:ext cx="175565" cy="17556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211312" y="4736592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AsyncStorage</a:t>
            </a:r>
            <a:endParaRPr lang="en-US" sz="1150" dirty="0"/>
          </a:p>
        </p:txBody>
      </p:sp>
      <p:sp>
        <p:nvSpPr>
          <p:cNvPr id="37" name="Text 25"/>
          <p:cNvSpPr/>
          <p:nvPr/>
        </p:nvSpPr>
        <p:spPr>
          <a:xfrm>
            <a:off x="8211312" y="497433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JWT guardado no dispositivo entre sessões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0" name="Text 28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 Spring Boot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21 · Spring Boot 4 · Firebase (Cap. 13) — uma API REST para o app e o painel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66394986366142e+66" dist="9.15987465915355e+65" dir="2.5389989167104004e+78">
              <a:srgbClr val="0F172A">
                <a:alpha val="7.999999999999998e+78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lock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6259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Firebase Auth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24912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e login reais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Senha nunca trafega pelo backend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328160" y="1920240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653216326850003e+70" dist="1.1633040817125008e+70" dir="1.5233993500262402e+83">
              <a:srgbClr val="0F172A">
                <a:alpha val="7.999999999999998e+83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65904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databas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6259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Firestore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24912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NoSQL na nuvem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completo e persistente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89392" y="1920240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909584735099504e+74" dist="1.477396183774876e+74" dir="9.14039610015744e+87">
              <a:srgbClr val="0F172A">
                <a:alpha val="7.999999999999998e+88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27136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boxes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6259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entidades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24912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User, Resource e Message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DTOs dedicados por operação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66928" y="3913632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50517261357637e+78" dist="1.8762931533940924e+78" dir="5.484237660094465e+92">
              <a:srgbClr val="0F172A">
                <a:alpha val="7.9999999999999985e+93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04672" y="415137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25" name="Image 5" descr="pptx_assets/ic_layers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79" y="4255983"/>
            <a:ext cx="193121" cy="1931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151376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Camadas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41248" y="4718304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→ Service → Repository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Injeção por construtor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328160" y="3913632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53156921924199e+82" dist="2.3828923048104974e+82" dir="3.2905425960566786e+97">
              <a:srgbClr val="0F172A">
                <a:alpha val="7.999999999999999e+98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565904" y="415137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30" name="Image 6" descr="pptx_assets/ic_shield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511" y="4255983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32832" y="4151376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Erros padronizados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602480" y="4718304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 / 401 / 403 / 404 / 409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único de resposta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089392" y="3913632"/>
            <a:ext cx="353263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105092908437327e+87" dist="3.0262732271093317e+86" dir="1.9743255576340073e+102">
              <a:srgbClr val="0F172A">
                <a:alpha val="7.999999999999998e+103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327136" y="415137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pic>
        <p:nvPicPr>
          <p:cNvPr id="35" name="Image 7" descr="pptx_assets/ic_fileJson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743" y="4255983"/>
            <a:ext cx="193121" cy="19312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894064" y="4151376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Swagger / OpenAPI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8363712" y="4718304"/>
            <a:ext cx="2983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interativa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Disponível em /swagger-ui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66928" y="59253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as regras de negócio ficam no backend — app e painel apenas consomem a mesma API.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1" name="Text 31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REST — cobertura e verificação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só código escrito: cada rota foi exercitada contra o Firebase real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883664"/>
            <a:ext cx="353263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5373467993715405e+91" dist="3.8433669984288512e+90" dir="1.1845953345804043e+107">
              <a:srgbClr val="0F172A">
                <a:alpha val="7.999999999999998e+108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6384" y="2066544"/>
            <a:ext cx="1942948" cy="457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0" name="Text 6"/>
          <p:cNvSpPr/>
          <p:nvPr/>
        </p:nvSpPr>
        <p:spPr>
          <a:xfrm>
            <a:off x="786384" y="2212848"/>
            <a:ext cx="2526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786384" y="2743200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REST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13176" y="2267712"/>
            <a:ext cx="530352" cy="530352"/>
          </a:xfrm>
          <a:prstGeom prst="roundRect">
            <a:avLst>
              <a:gd name="adj" fmla="val 9483"/>
            </a:avLst>
          </a:prstGeom>
          <a:solidFill>
            <a:srgbClr val="E0F2FE"/>
          </a:solidFill>
          <a:ln/>
        </p:spPr>
      </p:sp>
      <p:pic>
        <p:nvPicPr>
          <p:cNvPr id="13" name="Image 2" descr="pptx_assets/ic_network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068" y="2405604"/>
            <a:ext cx="254569" cy="25456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28160" y="1883664"/>
            <a:ext cx="353263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9524304352018566e+95" dist="4.8810760880046414e+94" dir="7.107572007482426e+111">
              <a:srgbClr val="0F172A">
                <a:alpha val="7.999999999999999e+113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47616" y="2066544"/>
            <a:ext cx="1942948" cy="45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6" name="Text 11"/>
          <p:cNvSpPr/>
          <p:nvPr/>
        </p:nvSpPr>
        <p:spPr>
          <a:xfrm>
            <a:off x="4547616" y="2212848"/>
            <a:ext cx="2526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4547616" y="2743200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entidades persistidas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74408" y="2267712"/>
            <a:ext cx="530352" cy="530352"/>
          </a:xfrm>
          <a:prstGeom prst="roundRect">
            <a:avLst>
              <a:gd name="adj" fmla="val 9483"/>
            </a:avLst>
          </a:prstGeom>
          <a:solidFill>
            <a:srgbClr val="D1FAE5"/>
          </a:solidFill>
          <a:ln/>
        </p:spPr>
      </p:sp>
      <p:pic>
        <p:nvPicPr>
          <p:cNvPr id="19" name="Image 3" descr="pptx_assets/ic_databas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00" y="2405604"/>
            <a:ext cx="254569" cy="25456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89392" y="1883664"/>
            <a:ext cx="353263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4795866527063578e+99" dist="6.198966631765894e+98" dir="4.2645432044894554e+116">
              <a:srgbClr val="0F172A">
                <a:alpha val="7.999999999999999e+118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308848" y="2066544"/>
            <a:ext cx="1942948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2" name="Text 16"/>
          <p:cNvSpPr/>
          <p:nvPr/>
        </p:nvSpPr>
        <p:spPr>
          <a:xfrm>
            <a:off x="8308848" y="2212848"/>
            <a:ext cx="2526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8308848" y="2743200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testado ponta a ponta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0835640" y="2267712"/>
            <a:ext cx="530352" cy="530352"/>
          </a:xfrm>
          <a:prstGeom prst="roundRect">
            <a:avLst>
              <a:gd name="adj" fmla="val 9483"/>
            </a:avLst>
          </a:prstGeom>
          <a:solidFill>
            <a:srgbClr val="E0E7FF"/>
          </a:solidFill>
          <a:ln/>
        </p:spPr>
      </p:sp>
      <p:pic>
        <p:nvPicPr>
          <p:cNvPr id="25" name="Image 4" descr="pptx_assets/ic_circleChec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3532" y="2405604"/>
            <a:ext cx="254569" cy="25456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3346704"/>
            <a:ext cx="5390388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149075048937074e+103" dist="7.872687622342685e+102" dir="2.5587259226936733e+121">
              <a:srgbClr val="0F172A">
                <a:alpha val="7.999999999999999e+123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2960" y="35844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28" name="Image 5" descr="pptx_assets/ic_route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67" y="3689055"/>
            <a:ext cx="193121" cy="1931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89888" y="3584448"/>
            <a:ext cx="42931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Principais rotas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841248" y="4169664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/>
        </p:spPr>
      </p:sp>
      <p:sp>
        <p:nvSpPr>
          <p:cNvPr id="31" name="Text 23"/>
          <p:cNvSpPr/>
          <p:nvPr/>
        </p:nvSpPr>
        <p:spPr>
          <a:xfrm>
            <a:off x="841248" y="41696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1773936" y="4160520"/>
            <a:ext cx="39273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 · /api/auth/login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41248" y="4517136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/>
        </p:spPr>
      </p:sp>
      <p:sp>
        <p:nvSpPr>
          <p:cNvPr id="34" name="Text 26"/>
          <p:cNvSpPr/>
          <p:nvPr/>
        </p:nvSpPr>
        <p:spPr>
          <a:xfrm>
            <a:off x="841248" y="451713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PUT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773936" y="4507992"/>
            <a:ext cx="39273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/api/users/me · /api/users (ADMIN)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41248" y="4864608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/>
        </p:spPr>
      </p:sp>
      <p:sp>
        <p:nvSpPr>
          <p:cNvPr id="37" name="Text 29"/>
          <p:cNvSpPr/>
          <p:nvPr/>
        </p:nvSpPr>
        <p:spPr>
          <a:xfrm>
            <a:off x="841248" y="486460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CRUD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1773936" y="4855464"/>
            <a:ext cx="39273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41248" y="5212080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/>
        </p:spPr>
      </p:sp>
      <p:sp>
        <p:nvSpPr>
          <p:cNvPr id="40" name="Text 32"/>
          <p:cNvSpPr/>
          <p:nvPr/>
        </p:nvSpPr>
        <p:spPr>
          <a:xfrm>
            <a:off x="841248" y="521208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POST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1773936" y="5202936"/>
            <a:ext cx="39273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/api/messages · /api/messages/conversations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41248" y="5559552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/>
        </p:spPr>
      </p:sp>
      <p:sp>
        <p:nvSpPr>
          <p:cNvPr id="43" name="Text 35"/>
          <p:cNvSpPr/>
          <p:nvPr/>
        </p:nvSpPr>
        <p:spPr>
          <a:xfrm>
            <a:off x="841248" y="555955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1773936" y="5550408"/>
            <a:ext cx="39273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/api/admin/stats (ADMIN)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231636" y="3346704"/>
            <a:ext cx="5390388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9993253121500844e+107" dist="9.998313280375211e+106" dir="1.535235553616204e+126">
              <a:srgbClr val="0F172A">
                <a:alpha val="7.999999999999999e+128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487668" y="35844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47" name="Image 6" descr="pptx_assets/ic_terminal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275" y="3689055"/>
            <a:ext cx="193121" cy="193121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054596" y="3584448"/>
            <a:ext cx="42931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Verificado de verdade</a:t>
            </a:r>
            <a:endParaRPr lang="en-US" sz="1350" dirty="0"/>
          </a:p>
        </p:txBody>
      </p:sp>
      <p:pic>
        <p:nvPicPr>
          <p:cNvPr id="49" name="Image 7" descr="pptx_assets/ic_circle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244" y="4215384"/>
            <a:ext cx="155448" cy="15544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780276" y="4160520"/>
            <a:ext cx="4549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compilado e rodando localmente (./mvnw spring-boot:run)</a:t>
            </a:r>
            <a:endParaRPr lang="en-US" sz="1050" dirty="0"/>
          </a:p>
        </p:txBody>
      </p:sp>
      <p:pic>
        <p:nvPicPr>
          <p:cNvPr id="51" name="Image 8" descr="pptx_assets/ic_circleCheck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244" y="4672584"/>
            <a:ext cx="155448" cy="15544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780276" y="4617720"/>
            <a:ext cx="4549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no Firebase Auth e login com as mesmas credenciais, em chamadas separadas</a:t>
            </a:r>
            <a:endParaRPr lang="en-US" sz="1050" dirty="0"/>
          </a:p>
        </p:txBody>
      </p:sp>
      <p:pic>
        <p:nvPicPr>
          <p:cNvPr id="53" name="Image 9" descr="pptx_assets/ic_circleCheck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244" y="5129784"/>
            <a:ext cx="155448" cy="15544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780276" y="5074920"/>
            <a:ext cx="4549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de permissão dono-vs-admin conferidas na prática</a:t>
            </a:r>
            <a:endParaRPr lang="en-US" sz="1050" dirty="0"/>
          </a:p>
        </p:txBody>
      </p:sp>
      <p:pic>
        <p:nvPicPr>
          <p:cNvPr id="55" name="Image 10" descr="pptx_assets/ic_circleCheck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244" y="5586984"/>
            <a:ext cx="155448" cy="155448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780276" y="5532120"/>
            <a:ext cx="4549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real no SDK do Firebase ("Not in GZIP format") encontrado e contornado</a:t>
            </a:r>
            <a:endParaRPr lang="en-US" sz="1050" dirty="0"/>
          </a:p>
        </p:txBody>
      </p:sp>
      <p:sp>
        <p:nvSpPr>
          <p:cNvPr id="57" name="Text 44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59" name="Text 46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| PARTE 3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administrativo Angular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backend, agora consumido por um painel web — com os requisitos do enunciado aplicados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079143146430607e+111" dist="1.2697857866076517e+111" dir="9.211413321697224e+130">
              <a:srgbClr val="0F172A">
                <a:alpha val="7.999999999999999e+133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212848"/>
            <a:ext cx="438912" cy="438912"/>
          </a:xfrm>
          <a:prstGeom prst="roundRect">
            <a:avLst>
              <a:gd name="adj" fmla="val 11458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rout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2326965"/>
            <a:ext cx="210678" cy="2106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2139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Rotas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353312" y="241401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/home pública · /login e /admin protegidas por AuthGuard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66928" y="2999232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450511795966871e+115" dist="1.6126279489917177e+115" dir="5.526847993018334e+135">
              <a:srgbClr val="0F172A">
                <a:alpha val="7.999999999999999e+138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04672" y="3273552"/>
            <a:ext cx="438912" cy="438912"/>
          </a:xfrm>
          <a:prstGeom prst="roundRect">
            <a:avLst>
              <a:gd name="adj" fmla="val 11458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plug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89" y="3387669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3312" y="32004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HttpClient + Interceptor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353312" y="347472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Anexa o token JWT automaticamente em toda chamada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66928" y="4059936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192149980877925e+119" dist="2.0480374952194813e+119" dir="3.3161087958110005e+140">
              <a:srgbClr val="0F172A">
                <a:alpha val="7.999999999999998e+143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04672" y="4334256"/>
            <a:ext cx="438912" cy="438912"/>
          </a:xfrm>
          <a:prstGeom prst="roundRect">
            <a:avLst>
              <a:gd name="adj" fmla="val 11458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code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89" y="4448373"/>
            <a:ext cx="210678" cy="21067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53312" y="42611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formas de binding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353312" y="453542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 }} interpolação · [ ] property · ( ) evento · [( )] ngModel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66928" y="5120640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404030475714965e+124" dist="2.6010076189287412e+123" dir="1.9896652774866004e+145">
              <a:srgbClr val="0F172A">
                <a:alpha val="7.999999999999998e+148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04672" y="5394960"/>
            <a:ext cx="438912" cy="438912"/>
          </a:xfrm>
          <a:prstGeom prst="roundRect">
            <a:avLst>
              <a:gd name="adj" fmla="val 11458"/>
            </a:avLst>
          </a:prstGeom>
          <a:solidFill>
            <a:srgbClr val="FEF3C7"/>
          </a:solidFill>
          <a:ln/>
        </p:spPr>
      </p:sp>
      <p:pic>
        <p:nvPicPr>
          <p:cNvPr id="25" name="Image 5" descr="pptx_assets/ic_layers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89" y="5509077"/>
            <a:ext cx="210678" cy="21067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53312" y="5321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*ngIf / *ngFor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353312" y="559612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de carregamento, erro e vazio nas listas</a:t>
            </a:r>
            <a:endParaRPr lang="en-US" sz="1050" dirty="0"/>
          </a:p>
        </p:txBody>
      </p:sp>
      <p:pic>
        <p:nvPicPr>
          <p:cNvPr id="28" name="Image 6" descr="pptx_assets/mock_adm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696" y="2084832"/>
            <a:ext cx="6053328" cy="3193887"/>
          </a:xfrm>
          <a:prstGeom prst="rect">
            <a:avLst/>
          </a:prstGeom>
          <a:effectLst>
            <a:outerShdw sx="100000" sy="100000" kx="0" ky="0" algn="bl" rotWithShape="0" blurRad="9.474532793742643e+33" dist="2.0302570272305663e+33" dir="1.5116544e+40">
              <a:srgbClr val="0F172A">
                <a:alpha val="1.3e+39"/>
              </a:srgbClr>
            </a:outerShdw>
          </a:effectLst>
        </p:spPr>
      </p:pic>
      <p:sp>
        <p:nvSpPr>
          <p:cNvPr id="29" name="Text 20"/>
          <p:cNvSpPr/>
          <p:nvPr/>
        </p:nvSpPr>
        <p:spPr>
          <a:xfrm>
            <a:off x="5568696" y="5443311"/>
            <a:ext cx="6053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real de localhost:4200/admin — estatísticas, usuários e recursos vindos da API Spring Boot.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2" name="Text 23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| RESULTADO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Integração ponta a ponta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aplicações compartilham o mesmo contrato de API e os mesmos dados reais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4"/>
          <p:cNvSpPr/>
          <p:nvPr/>
        </p:nvSpPr>
        <p:spPr>
          <a:xfrm>
            <a:off x="877824" y="2212848"/>
            <a:ext cx="3145536" cy="2798064"/>
          </a:xfrm>
          <a:prstGeom prst="roundRect">
            <a:avLst>
              <a:gd name="adj" fmla="val 32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77824" y="2212848"/>
            <a:ext cx="314553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6"/>
          <p:cNvSpPr/>
          <p:nvPr/>
        </p:nvSpPr>
        <p:spPr>
          <a:xfrm>
            <a:off x="2112264" y="2596896"/>
            <a:ext cx="676656" cy="676656"/>
          </a:xfrm>
          <a:prstGeom prst="roundRect">
            <a:avLst>
              <a:gd name="adj" fmla="val 7432"/>
            </a:avLst>
          </a:prstGeom>
          <a:solidFill>
            <a:srgbClr val="334155"/>
          </a:solidFill>
          <a:ln/>
        </p:spPr>
      </p:sp>
      <p:pic>
        <p:nvPicPr>
          <p:cNvPr id="11" name="Image 2" descr="pptx_assets/ic_smartphon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195" y="2772827"/>
            <a:ext cx="324795" cy="3247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0704" y="343814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 React Native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52144" y="380390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Login, ofertas, chat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mapa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536192" y="444398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1536192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 · TypeScript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078224" y="3598164"/>
            <a:ext cx="676656" cy="27432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17" name="Image 3" descr="pptx_assets/ic_arrowRigh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35021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58768" y="31363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· JSON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858768" y="379476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809744" y="2212848"/>
            <a:ext cx="3145536" cy="2798064"/>
          </a:xfrm>
          <a:prstGeom prst="roundRect">
            <a:avLst>
              <a:gd name="adj" fmla="val 32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09744" y="2212848"/>
            <a:ext cx="3145536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6"/>
          <p:cNvSpPr/>
          <p:nvPr/>
        </p:nvSpPr>
        <p:spPr>
          <a:xfrm>
            <a:off x="6044184" y="2596896"/>
            <a:ext cx="676656" cy="676656"/>
          </a:xfrm>
          <a:prstGeom prst="roundRect">
            <a:avLst>
              <a:gd name="adj" fmla="val 7432"/>
            </a:avLst>
          </a:prstGeom>
          <a:solidFill>
            <a:srgbClr val="334155"/>
          </a:solidFill>
          <a:ln/>
        </p:spPr>
      </p:sp>
      <p:pic>
        <p:nvPicPr>
          <p:cNvPr id="23" name="Image 4" descr="pptx_assets/ic_serv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115" y="2772827"/>
            <a:ext cx="324795" cy="3247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92624" y="343814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Spring Boot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084064" y="380390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Autenticação, regras de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negócio e persistência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68112" y="444398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7" name="Text 20"/>
          <p:cNvSpPr/>
          <p:nvPr/>
        </p:nvSpPr>
        <p:spPr>
          <a:xfrm>
            <a:off x="5468112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Java 21 · Firebase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8010144" y="3598164"/>
            <a:ext cx="676656" cy="27432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29" name="Image 5" descr="pptx_assets/ic_arrowRight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350215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90688" y="31363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· JSON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7790688" y="379476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8741664" y="2212848"/>
            <a:ext cx="3145536" cy="2798064"/>
          </a:xfrm>
          <a:prstGeom prst="roundRect">
            <a:avLst>
              <a:gd name="adj" fmla="val 32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741664" y="2212848"/>
            <a:ext cx="3145536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Shape 26"/>
          <p:cNvSpPr/>
          <p:nvPr/>
        </p:nvSpPr>
        <p:spPr>
          <a:xfrm>
            <a:off x="9976104" y="2596896"/>
            <a:ext cx="676656" cy="676656"/>
          </a:xfrm>
          <a:prstGeom prst="roundRect">
            <a:avLst>
              <a:gd name="adj" fmla="val 7432"/>
            </a:avLst>
          </a:prstGeom>
          <a:solidFill>
            <a:srgbClr val="334155"/>
          </a:solidFill>
          <a:ln/>
        </p:spPr>
      </p:sp>
      <p:pic>
        <p:nvPicPr>
          <p:cNvPr id="35" name="Image 6" descr="pptx_assets/ic_layout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2035" y="2772827"/>
            <a:ext cx="324795" cy="32479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924544" y="343814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Angular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9015984" y="380390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usuários 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estatísticas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9400032" y="444398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9" name="Text 30"/>
          <p:cNvSpPr/>
          <p:nvPr/>
        </p:nvSpPr>
        <p:spPr>
          <a:xfrm>
            <a:off x="9400032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Angular 20 · RxJS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66928" y="5358384"/>
            <a:ext cx="11055096" cy="658368"/>
          </a:xfrm>
          <a:prstGeom prst="roundRect">
            <a:avLst>
              <a:gd name="adj" fmla="val 13889"/>
            </a:avLst>
          </a:prstGeom>
          <a:solidFill>
            <a:srgbClr val="0B2A2A"/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41" name="Image 7" descr="pptx_assets/ic_circle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559552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225296" y="5358384"/>
            <a:ext cx="10140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Evidência: um recurso renomeado via API apareceu, ao vivo, já atualizado no dashboard Angular.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66928" y="6419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5 · Cap. 1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5" name="Text 35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6400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CONCLUSÃO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9326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 protótipo a sistema real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66928" y="1700784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Smart HAS deixou de ser uma interface com dados mockados e passou a ser um sistema full-stack: app React Native, backend Spring Boot com Firebase Authentication e Firestore, e dashboard Angular — os três integrados pelo mesmo contrato de API e alinhados ao conteúdo desta fase.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2798064"/>
            <a:ext cx="3532632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3054096"/>
            <a:ext cx="475488" cy="475488"/>
          </a:xfrm>
          <a:prstGeom prst="roundRect">
            <a:avLst>
              <a:gd name="adj" fmla="val 10577"/>
            </a:avLst>
          </a:prstGeom>
          <a:solidFill>
            <a:srgbClr val="334155"/>
          </a:solidFill>
          <a:ln/>
        </p:spPr>
      </p:sp>
      <p:pic>
        <p:nvPicPr>
          <p:cNvPr id="9" name="Image 2" descr="pptx_assets/ic_github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87" y="3177723"/>
            <a:ext cx="228234" cy="2282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3639312"/>
            <a:ext cx="3020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Código-fonte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22960" y="3895344"/>
            <a:ext cx="3020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github.com/YuriRASousa/ComunidadeConectada_FASE5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328160" y="2798064"/>
            <a:ext cx="3532632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84192" y="3054096"/>
            <a:ext cx="475488" cy="475488"/>
          </a:xfrm>
          <a:prstGeom prst="roundRect">
            <a:avLst>
              <a:gd name="adj" fmla="val 10577"/>
            </a:avLst>
          </a:prstGeom>
          <a:solidFill>
            <a:srgbClr val="334155"/>
          </a:solidFill>
          <a:ln/>
        </p:spPr>
      </p:sp>
      <p:pic>
        <p:nvPicPr>
          <p:cNvPr id="14" name="Image 3" descr="pptx_assets/ic_youtube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819" y="3177723"/>
            <a:ext cx="228234" cy="2282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84192" y="3639312"/>
            <a:ext cx="3020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Vídeo de demonstração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84192" y="3895344"/>
            <a:ext cx="3020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youtu.be/6GpY25Bgr6E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8089392" y="2798064"/>
            <a:ext cx="3532632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345424" y="3054096"/>
            <a:ext cx="475488" cy="475488"/>
          </a:xfrm>
          <a:prstGeom prst="roundRect">
            <a:avLst>
              <a:gd name="adj" fmla="val 10577"/>
            </a:avLst>
          </a:prstGeom>
          <a:solidFill>
            <a:srgbClr val="334155"/>
          </a:solidFill>
          <a:ln/>
        </p:spPr>
      </p:sp>
      <p:pic>
        <p:nvPicPr>
          <p:cNvPr id="19" name="Image 4" descr="pptx_assets/ic_fileText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051" y="3177723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45424" y="3639312"/>
            <a:ext cx="3020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Relatório completo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345424" y="3895344"/>
            <a:ext cx="3020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Relatorio_SmartHAS_Fase5_Cap1.pdf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566928" y="48280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16"/>
          <p:cNvSpPr/>
          <p:nvPr/>
        </p:nvSpPr>
        <p:spPr>
          <a:xfrm>
            <a:off x="566928" y="504748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Obrigado!</a:t>
            </a:r>
            <a:endParaRPr lang="en-US" sz="2600" dirty="0"/>
          </a:p>
        </p:txBody>
      </p:sp>
      <p:pic>
        <p:nvPicPr>
          <p:cNvPr id="24" name="Image 5" descr="pptx_assets/avatar_yu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705856"/>
            <a:ext cx="457200" cy="457200"/>
          </a:xfrm>
          <a:prstGeom prst="ellipse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70432" y="57058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Yuri Sousa · RM 556163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878824" y="57058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FIAP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HAS — Fase 5, Cap. 1</dc:title>
  <dc:subject>PptxGenJS Presentation</dc:subject>
  <dc:creator>Yuri Sousa</dc:creator>
  <cp:lastModifiedBy>Yuri Sousa</cp:lastModifiedBy>
  <cp:revision>1</cp:revision>
  <dcterms:created xsi:type="dcterms:W3CDTF">2026-08-29T17:59:59Z</dcterms:created>
  <dcterms:modified xsi:type="dcterms:W3CDTF">2026-08-29T17:59:59Z</dcterms:modified>
</cp:coreProperties>
</file>