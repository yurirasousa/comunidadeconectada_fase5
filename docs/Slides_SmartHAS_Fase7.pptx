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hyperlink" Target="https://github.com/YuriRASousa/ComunidadeConectada_FASE5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6" Type="http://schemas.openxmlformats.org/officeDocument/2006/relationships/image" Target="../media/image-1-5.png"/><Relationship Id="rId7" Type="http://schemas.openxmlformats.org/officeDocument/2006/relationships/image" Target="../media/image-1-6.png"/><Relationship Id="rId8" Type="http://schemas.openxmlformats.org/officeDocument/2006/relationships/image" Target="../media/image-1-7.png"/><Relationship Id="rId9" Type="http://schemas.openxmlformats.org/officeDocument/2006/relationships/image" Target="../media/image-1-8.png"/><Relationship Id="rId10" Type="http://schemas.openxmlformats.org/officeDocument/2006/relationships/image" Target="../media/image-1-9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hyperlink" Target="https://github.com/YuriRASousa/ComunidadeConectada_FASE5/actions/workflows/ci-cd.yml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hyperlink" Target="https://github.com/YuriRASousa/ComunidadeConectada_FASE5" TargetMode="External"/><Relationship Id="rId7" Type="http://schemas.openxmlformats.org/officeDocument/2006/relationships/hyperlink" Target="https://github.com/YuriRASousa/ComunidadeConectada_FASE5/actions/workflows/ci-cd.yml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6" Type="http://schemas.openxmlformats.org/officeDocument/2006/relationships/image" Target="../media/image-10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_assets/bg_cap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ptx_assets/mock_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6296" y="1180171"/>
            <a:ext cx="2212848" cy="4497659"/>
          </a:xfrm>
          <a:prstGeom prst="rect">
            <a:avLst/>
          </a:prstGeom>
          <a:effectLst>
            <a:outerShdw sx="100000" sy="100000" kx="0" ky="0" algn="bl" rotWithShape="0" blurRad="330200" dist="101600" dir="5400000">
              <a:srgbClr val="000000">
                <a:alpha val="34000"/>
              </a:srgbClr>
            </a:outerShdw>
          </a:effectLst>
        </p:spPr>
      </p:pic>
      <p:sp>
        <p:nvSpPr>
          <p:cNvPr id="4" name="Text 0"/>
          <p:cNvSpPr/>
          <p:nvPr/>
        </p:nvSpPr>
        <p:spPr>
          <a:xfrm>
            <a:off x="566928" y="841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FASE 7 · CONSOLIDAÇÃO E ENTREGA CONTÍNUA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566928" y="1133856"/>
            <a:ext cx="7863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Smart HAS</a:t>
            </a:r>
            <a:endParaRPr lang="en-US" sz="4400" dirty="0"/>
          </a:p>
        </p:txBody>
      </p:sp>
      <p:sp>
        <p:nvSpPr>
          <p:cNvPr id="6" name="Shape 2"/>
          <p:cNvSpPr/>
          <p:nvPr/>
        </p:nvSpPr>
        <p:spPr>
          <a:xfrm>
            <a:off x="566928" y="1993392"/>
            <a:ext cx="13716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3"/>
          <p:cNvSpPr/>
          <p:nvPr/>
        </p:nvSpPr>
        <p:spPr>
          <a:xfrm>
            <a:off x="566928" y="2157984"/>
            <a:ext cx="7680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Pacotes PL/SQL, triggers, SQL dinâmico e pipeline CI/CD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566928" y="2651760"/>
            <a:ext cx="69494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projeto chega à maturidade: a regra de negócio ganha organização e auditoria dentro do Oracle, e cada alteração passa por um pipeline que testa, valida e entrega sozinho.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566928" y="3621024"/>
            <a:ext cx="3419856" cy="658368"/>
          </a:xfrm>
          <a:prstGeom prst="roundRect">
            <a:avLst>
              <a:gd name="adj" fmla="val 13889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0" name="Image 2" descr="pptx_assets/ic_youtube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3822192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33856" y="3712464"/>
            <a:ext cx="2706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VÍDEO (YOUTUBE, NÃO LISTADO)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133856" y="3922776"/>
            <a:ext cx="2706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youtu.be/COLE-O-ID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187952" y="3621024"/>
            <a:ext cx="4718304" cy="658368"/>
          </a:xfrm>
          <a:prstGeom prst="roundRect">
            <a:avLst>
              <a:gd name="adj" fmla="val 1388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4" name="Image 3" descr="pptx_assets/ic_github_sk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3822192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754880" y="3712464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REPOSITÓRIO (GITHUB)</a:t>
            </a:r>
            <a:endParaRPr lang="en-US" sz="900" dirty="0"/>
          </a:p>
        </p:txBody>
      </p:sp>
      <p:sp>
        <p:nvSpPr>
          <p:cNvPr id="16" name="Text 10">
            <a:hlinkClick r:id="rId5" tooltip=""/>
          </p:cNvPr>
          <p:cNvSpPr/>
          <p:nvPr/>
        </p:nvSpPr>
        <p:spPr>
          <a:xfrm>
            <a:off x="4754880" y="3922776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github.com/YuriRASousa/ComunidadeConectada_FASE5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566928" y="455371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GRUPO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566928" y="4846320"/>
            <a:ext cx="36576" cy="749808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9" name="Image 4" descr="pptx_assets/avatar_yur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4846320"/>
            <a:ext cx="749808" cy="749808"/>
          </a:xfrm>
          <a:prstGeom prst="ellipse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682496" y="486460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Yuri Raphael Alves de Sousa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1682496" y="52120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RM 556163 · Sistemas de Informação · FIAP 2026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1682496" y="5449824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Entrega individual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566928" y="5870448"/>
            <a:ext cx="1633118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4" name="Image 5" descr="pptx_assets/ic_database_sk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" y="5966460"/>
            <a:ext cx="182880" cy="1828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32688" y="5870448"/>
            <a:ext cx="119420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Oracle PL/SQL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2328062" y="5870448"/>
            <a:ext cx="1708099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7" name="Image 6" descr="pptx_assets/ic_github_gree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56078" y="5966460"/>
            <a:ext cx="182880" cy="18288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2693822" y="5870448"/>
            <a:ext cx="126918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</a:t>
            </a:r>
            <a:endParaRPr lang="en-US" sz="1000" dirty="0"/>
          </a:p>
        </p:txBody>
      </p:sp>
      <p:sp>
        <p:nvSpPr>
          <p:cNvPr id="29" name="Shape 20"/>
          <p:cNvSpPr/>
          <p:nvPr/>
        </p:nvSpPr>
        <p:spPr>
          <a:xfrm>
            <a:off x="4164178" y="5870448"/>
            <a:ext cx="1483157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30" name="Image 7" descr="pptx_assets/ic_server_indigo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2194" y="5966460"/>
            <a:ext cx="182880" cy="18288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4529938" y="5870448"/>
            <a:ext cx="104424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Boot</a:t>
            </a:r>
            <a:endParaRPr lang="en-US" sz="1000" dirty="0"/>
          </a:p>
        </p:txBody>
      </p:sp>
      <p:sp>
        <p:nvSpPr>
          <p:cNvPr id="32" name="Shape 22"/>
          <p:cNvSpPr/>
          <p:nvPr/>
        </p:nvSpPr>
        <p:spPr>
          <a:xfrm>
            <a:off x="5775350" y="5870448"/>
            <a:ext cx="1108253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33" name="Image 8" descr="pptx_assets/ic_boxes_ambe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03366" y="5966460"/>
            <a:ext cx="182880" cy="18288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6141110" y="5870448"/>
            <a:ext cx="66934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_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ptx_assets/bar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822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0EA5E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VISÃO GERAL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566928" y="621792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 que foi entregue nesta fase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566928" y="120700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Duas partes: consolidar a regra no Oracle e automatizar o caminho até a produção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66928" y="1627632"/>
            <a:ext cx="1105509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4"/>
          <p:cNvSpPr/>
          <p:nvPr/>
        </p:nvSpPr>
        <p:spPr>
          <a:xfrm>
            <a:off x="566928" y="1920240"/>
            <a:ext cx="5390388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04672" y="2157984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E0F2FE"/>
          </a:solidFill>
          <a:ln/>
        </p:spPr>
      </p:sp>
      <p:pic>
        <p:nvPicPr>
          <p:cNvPr id="10" name="Image 2" descr="pptx_assets/ic_database_sk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279" y="2262591"/>
            <a:ext cx="193121" cy="19312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2157984"/>
            <a:ext cx="43479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Parte 1: Oracle PL/SQL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841248" y="2724912"/>
            <a:ext cx="4841748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pacotes no lugar de 10 rotinas soltas</a:t>
            </a:r>
            <a:endParaRPr lang="en-US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triggers: automação e auditoria</a:t>
            </a:r>
            <a:endParaRPr lang="en-US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dinâmico seguro com binds</a:t>
            </a:r>
            <a:endParaRPr lang="en-US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Todos os objetos documentados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231636" y="1920240"/>
            <a:ext cx="5390388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6469380" y="2157984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D1FAE5"/>
          </a:solidFill>
          <a:ln/>
        </p:spPr>
      </p:sp>
      <p:pic>
        <p:nvPicPr>
          <p:cNvPr id="15" name="Image 3" descr="pptx_assets/ic_rocket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3987" y="2262591"/>
            <a:ext cx="193121" cy="19312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036308" y="2157984"/>
            <a:ext cx="43479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Parte 2: Automação e entrega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6505956" y="2724912"/>
            <a:ext cx="4841748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Actions: build, testes e deploy</a:t>
            </a:r>
            <a:endParaRPr lang="en-US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Oracle Free sobe como serviço do job</a:t>
            </a:r>
            <a:endParaRPr lang="en-US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 de fumaça e imagem Docker</a:t>
            </a:r>
            <a:endParaRPr lang="en-US" sz="11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Logs e relatórios como artefatos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566928" y="4526280"/>
            <a:ext cx="2064715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566928" y="4690872"/>
            <a:ext cx="54864" cy="58521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Text 14"/>
          <p:cNvSpPr/>
          <p:nvPr/>
        </p:nvSpPr>
        <p:spPr>
          <a:xfrm>
            <a:off x="768096" y="4617720"/>
            <a:ext cx="17903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5"/>
          <p:cNvSpPr/>
          <p:nvPr/>
        </p:nvSpPr>
        <p:spPr>
          <a:xfrm>
            <a:off x="768096" y="5056632"/>
            <a:ext cx="17903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pacotes PL/SQL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2814523" y="4526280"/>
            <a:ext cx="2064715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2814523" y="4690872"/>
            <a:ext cx="54864" cy="5852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4" name="Text 18"/>
          <p:cNvSpPr/>
          <p:nvPr/>
        </p:nvSpPr>
        <p:spPr>
          <a:xfrm>
            <a:off x="3015691" y="4617720"/>
            <a:ext cx="17903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2400" dirty="0"/>
          </a:p>
        </p:txBody>
      </p:sp>
      <p:sp>
        <p:nvSpPr>
          <p:cNvPr id="25" name="Text 19"/>
          <p:cNvSpPr/>
          <p:nvPr/>
        </p:nvSpPr>
        <p:spPr>
          <a:xfrm>
            <a:off x="3015691" y="5056632"/>
            <a:ext cx="17903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triggers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062118" y="4526280"/>
            <a:ext cx="2064715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062118" y="4690872"/>
            <a:ext cx="54864" cy="5852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2"/>
          <p:cNvSpPr/>
          <p:nvPr/>
        </p:nvSpPr>
        <p:spPr>
          <a:xfrm>
            <a:off x="5263286" y="4617720"/>
            <a:ext cx="17903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2400" dirty="0"/>
          </a:p>
        </p:txBody>
      </p:sp>
      <p:sp>
        <p:nvSpPr>
          <p:cNvPr id="29" name="Text 23"/>
          <p:cNvSpPr/>
          <p:nvPr/>
        </p:nvSpPr>
        <p:spPr>
          <a:xfrm>
            <a:off x="5263286" y="5056632"/>
            <a:ext cx="17903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rotinas com SQL dinâmico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7309714" y="4526280"/>
            <a:ext cx="2064715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7309714" y="4690872"/>
            <a:ext cx="54864" cy="5852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26"/>
          <p:cNvSpPr/>
          <p:nvPr/>
        </p:nvSpPr>
        <p:spPr>
          <a:xfrm>
            <a:off x="7510882" y="4617720"/>
            <a:ext cx="17903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15</a:t>
            </a:r>
            <a:endParaRPr lang="en-US" sz="2400" dirty="0"/>
          </a:p>
        </p:txBody>
      </p:sp>
      <p:sp>
        <p:nvSpPr>
          <p:cNvPr id="33" name="Text 27"/>
          <p:cNvSpPr/>
          <p:nvPr/>
        </p:nvSpPr>
        <p:spPr>
          <a:xfrm>
            <a:off x="7510882" y="5056632"/>
            <a:ext cx="17903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testes contra Oracle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9557309" y="4526280"/>
            <a:ext cx="2064715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9557309" y="4690872"/>
            <a:ext cx="54864" cy="5852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0"/>
          <p:cNvSpPr/>
          <p:nvPr/>
        </p:nvSpPr>
        <p:spPr>
          <a:xfrm>
            <a:off x="9758477" y="4617720"/>
            <a:ext cx="17903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4/4</a:t>
            </a:r>
            <a:endParaRPr lang="en-US" sz="2400" dirty="0"/>
          </a:p>
        </p:txBody>
      </p:sp>
      <p:sp>
        <p:nvSpPr>
          <p:cNvPr id="37" name="Text 31"/>
          <p:cNvSpPr/>
          <p:nvPr/>
        </p:nvSpPr>
        <p:spPr>
          <a:xfrm>
            <a:off x="9758477" y="5056632"/>
            <a:ext cx="17903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jobs do pipeline verdes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566928" y="5669280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Os recursos de IA generativa (ConectaIA, com Gemini) vêm da Fase 5 e seguem no aplicativo; esta fase se concentra em consolidar o banco e profissionalizar a entrega.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566928" y="6419088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HAS · Fase 7 · Consolidação e entrega contínua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11311128" y="6382512"/>
            <a:ext cx="310896" cy="310896"/>
          </a:xfrm>
          <a:prstGeom prst="ellipse">
            <a:avLst/>
          </a:prstGeom>
          <a:solidFill>
            <a:srgbClr val="EEF2F7"/>
          </a:solidFill>
          <a:ln/>
        </p:spPr>
      </p:sp>
      <p:sp>
        <p:nvSpPr>
          <p:cNvPr id="41" name="Text 35"/>
          <p:cNvSpPr/>
          <p:nvPr/>
        </p:nvSpPr>
        <p:spPr>
          <a:xfrm>
            <a:off x="11311128" y="6382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_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ptx_assets/bar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822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0EA5E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 | PARTE 1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566928" y="621792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Packages: organização e reuso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566928" y="120700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Specification é o contrato público; o body guarda a implementação e pode mudar sem quebrar quem chama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66928" y="1627632"/>
            <a:ext cx="1105509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4"/>
          <p:cNvSpPr/>
          <p:nvPr/>
        </p:nvSpPr>
        <p:spPr>
          <a:xfrm>
            <a:off x="566928" y="192024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04672" y="2157984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FEE2E2"/>
          </a:solidFill>
          <a:ln/>
        </p:spPr>
      </p:sp>
      <p:pic>
        <p:nvPicPr>
          <p:cNvPr id="10" name="Image 2" descr="pptx_assets/ic_code_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279" y="2262591"/>
            <a:ext cx="193121" cy="19312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2157984"/>
            <a:ext cx="2889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Antes (Fase 6)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841248" y="2724912"/>
            <a:ext cx="338328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functions + 6 procedures soltas</a:t>
            </a:r>
            <a:endParaRPr lang="en-US" sz="11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Prazo de 7 dias e limites de atraso fixos no código</a:t>
            </a:r>
            <a:endParaRPr lang="en-US" sz="11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chamava cada nome avulso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66928" y="411480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04672" y="4352544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D1FAE5"/>
          </a:solidFill>
          <a:ln/>
        </p:spPr>
      </p:sp>
      <p:pic>
        <p:nvPicPr>
          <p:cNvPr id="15" name="Image 3" descr="pptx_assets/ic_layers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279" y="4457151"/>
            <a:ext cx="193121" cy="19312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71600" y="4352544"/>
            <a:ext cx="2889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Agora (Fase 7)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841248" y="4919472"/>
            <a:ext cx="338328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pacotes com specification e body</a:t>
            </a:r>
            <a:endParaRPr lang="en-US" sz="11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Constantes: c_dias_padrao, c_atraso_media, c_atraso_alta</a:t>
            </a:r>
            <a:endParaRPr lang="en-US" sz="11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chama PKG.ROTINA pelo catálogo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4773168" y="1920240"/>
            <a:ext cx="3310128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5010912" y="2157984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E0F2FE"/>
          </a:solidFill>
          <a:ln/>
        </p:spPr>
      </p:sp>
      <p:pic>
        <p:nvPicPr>
          <p:cNvPr id="20" name="Image 4" descr="pptx_assets/ic_database_sk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5519" y="2262591"/>
            <a:ext cx="193121" cy="19312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577840" y="2157984"/>
            <a:ext cx="22677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PKG_SH_LOG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5047488" y="2724912"/>
            <a:ext cx="2761488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GRAVA, em transação autônoma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log sobrevive ao ROLLBACK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8311896" y="1920240"/>
            <a:ext cx="3310128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8549640" y="2157984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D1FAE5"/>
          </a:solidFill>
          <a:ln/>
        </p:spPr>
      </p:sp>
      <p:pic>
        <p:nvPicPr>
          <p:cNvPr id="25" name="Image 5" descr="pptx_assets/ic_target_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4247" y="2262591"/>
            <a:ext cx="193121" cy="19312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116568" y="2157984"/>
            <a:ext cx="22677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PKG_SH_CALCULOS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8586216" y="2724912"/>
            <a:ext cx="2761488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REPUTACAO, INDICE_CIRCULARIDADE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FICHA_RECURSO, DISTANCIA_KM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Usáveis dentro de SELECT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4773168" y="4114800"/>
            <a:ext cx="3310128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5010912" y="4352544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E0E7FF"/>
          </a:solidFill>
          <a:ln/>
        </p:spPr>
      </p:sp>
      <p:pic>
        <p:nvPicPr>
          <p:cNvPr id="30" name="Image 6" descr="pptx_assets/ic_refresh_indi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5519" y="4457151"/>
            <a:ext cx="193121" cy="193121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577840" y="4352544"/>
            <a:ext cx="22677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PKG_SH_EMPRESTIMO</a:t>
            </a:r>
            <a:endParaRPr lang="en-US" sz="1350" dirty="0"/>
          </a:p>
        </p:txBody>
      </p:sp>
      <p:sp>
        <p:nvSpPr>
          <p:cNvPr id="32" name="Text 23"/>
          <p:cNvSpPr/>
          <p:nvPr/>
        </p:nvSpPr>
        <p:spPr>
          <a:xfrm>
            <a:off x="5047488" y="4919472"/>
            <a:ext cx="2761488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REGISTRA_EMPRESTIMO e DEVOLUCAO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ATUALIZA_REPUTACAO, DETECTA_ATRASOS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Erros ORA-202xx viram HTTP 4xx</a:t>
            </a:r>
            <a:endParaRPr lang="en-US" sz="1050" dirty="0"/>
          </a:p>
        </p:txBody>
      </p:sp>
      <p:sp>
        <p:nvSpPr>
          <p:cNvPr id="33" name="Shape 24"/>
          <p:cNvSpPr/>
          <p:nvPr/>
        </p:nvSpPr>
        <p:spPr>
          <a:xfrm>
            <a:off x="8311896" y="4114800"/>
            <a:ext cx="3310128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8549640" y="4352544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/>
        </p:spPr>
      </p:sp>
      <p:pic>
        <p:nvPicPr>
          <p:cNvPr id="35" name="Image 7" descr="pptx_assets/ic_server_amb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54247" y="4457151"/>
            <a:ext cx="193121" cy="193121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9116568" y="4352544"/>
            <a:ext cx="22677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PKG_SH_ADMIN</a:t>
            </a:r>
            <a:endParaRPr lang="en-US" sz="1350" dirty="0"/>
          </a:p>
        </p:txBody>
      </p:sp>
      <p:sp>
        <p:nvSpPr>
          <p:cNvPr id="37" name="Text 27"/>
          <p:cNvSpPr/>
          <p:nvPr/>
        </p:nvSpPr>
        <p:spPr>
          <a:xfrm>
            <a:off x="8586216" y="4919472"/>
            <a:ext cx="2761488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GERA_RESUMO_MENSAL (BULK + FORALL)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CONTAGEM_LINHAS, PRC_VOLUMETRIA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BUSCA_RECURSOS</a:t>
            </a:r>
            <a:endParaRPr lang="en-US" sz="1050" dirty="0"/>
          </a:p>
        </p:txBody>
      </p:sp>
      <p:sp>
        <p:nvSpPr>
          <p:cNvPr id="38" name="Text 28"/>
          <p:cNvSpPr/>
          <p:nvPr/>
        </p:nvSpPr>
        <p:spPr>
          <a:xfrm>
            <a:off x="566928" y="6419088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HAS · Fase 7 · Consolidação e entrega contínua</a:t>
            </a:r>
            <a:endParaRPr lang="en-US" sz="900" dirty="0"/>
          </a:p>
        </p:txBody>
      </p:sp>
      <p:sp>
        <p:nvSpPr>
          <p:cNvPr id="39" name="Shape 29"/>
          <p:cNvSpPr/>
          <p:nvPr/>
        </p:nvSpPr>
        <p:spPr>
          <a:xfrm>
            <a:off x="11311128" y="6382512"/>
            <a:ext cx="310896" cy="310896"/>
          </a:xfrm>
          <a:prstGeom prst="ellipse">
            <a:avLst/>
          </a:prstGeom>
          <a:solidFill>
            <a:srgbClr val="EEF2F7"/>
          </a:solidFill>
          <a:ln/>
        </p:spPr>
      </p:sp>
      <p:sp>
        <p:nvSpPr>
          <p:cNvPr id="40" name="Text 30"/>
          <p:cNvSpPr/>
          <p:nvPr/>
        </p:nvSpPr>
        <p:spPr>
          <a:xfrm>
            <a:off x="11311128" y="6382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_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ptx_assets/bar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822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0EA5E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 | PARTE 1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566928" y="621792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Triggers: automação e auditoria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566928" y="120700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regra vale para qualquer porta de entrada: procedure, painel ou script manual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66928" y="1627632"/>
            <a:ext cx="1105509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4"/>
          <p:cNvSpPr/>
          <p:nvPr/>
        </p:nvSpPr>
        <p:spPr>
          <a:xfrm>
            <a:off x="566928" y="1920240"/>
            <a:ext cx="353263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04672" y="2157984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/>
        </p:spPr>
      </p:sp>
      <p:pic>
        <p:nvPicPr>
          <p:cNvPr id="10" name="Image 2" descr="pptx_assets/ic_shield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279" y="2262591"/>
            <a:ext cx="193121" cy="19312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2157984"/>
            <a:ext cx="2490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TRG_SH_EMPRESTIMO_BU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841248" y="2724912"/>
            <a:ext cx="2983992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UPDATE do status, com WHEN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 final não volta atrás (ORA-20301)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ATIVO e DEVOLVIDO preenchem as datas sozinhos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4328160" y="1920240"/>
            <a:ext cx="353263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565904" y="2157984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E0F2FE"/>
          </a:solidFill>
          <a:ln/>
        </p:spPr>
      </p:sp>
      <p:pic>
        <p:nvPicPr>
          <p:cNvPr id="15" name="Image 3" descr="pptx_assets/ic_fileText_sk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0511" y="2262591"/>
            <a:ext cx="193121" cy="19312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132832" y="2157984"/>
            <a:ext cx="2490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TRG_SH_EMPRESTIMO_AUD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4602480" y="2724912"/>
            <a:ext cx="2983992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INSERT, UPDATE e DELETE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Grava antes e depois em SH_AUDITORIA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Cancelar libera o item na vitrine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8089392" y="1920240"/>
            <a:ext cx="353263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8327136" y="2157984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E0E7FF"/>
          </a:solidFill>
          <a:ln/>
        </p:spPr>
      </p:sp>
      <p:pic>
        <p:nvPicPr>
          <p:cNvPr id="20" name="Image 4" descr="pptx_assets/ic_loc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1743" y="2262591"/>
            <a:ext cx="193121" cy="19312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894064" y="2157984"/>
            <a:ext cx="2490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TRG_SH_USUARIO_AUD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8363712" y="2724912"/>
            <a:ext cx="2983992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Só dispara em papel, status e verificação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Mudar de USER para ADMIN deixa rastro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Nunca lê nem grava a senha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566928" y="4224528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Execução real no Oracle da FIAP: um empréstimo é pedido e devolvido, e a trilha aparece sem ninguém escrever nela</a:t>
            </a:r>
            <a:endParaRPr lang="en-US" sz="1200" dirty="0"/>
          </a:p>
        </p:txBody>
      </p:sp>
      <p:pic>
        <p:nvPicPr>
          <p:cNvPr id="24" name="Image 5" descr="pptx_assets/term_triggers_f7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9248" y="4553712"/>
            <a:ext cx="5670457" cy="17830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66928" y="6419088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HAS · Fase 7 · Consolidação e entrega contínua</a:t>
            </a:r>
            <a:endParaRPr lang="en-US" sz="900" dirty="0"/>
          </a:p>
        </p:txBody>
      </p:sp>
      <p:sp>
        <p:nvSpPr>
          <p:cNvPr id="26" name="Shape 18"/>
          <p:cNvSpPr/>
          <p:nvPr/>
        </p:nvSpPr>
        <p:spPr>
          <a:xfrm>
            <a:off x="11311128" y="6382512"/>
            <a:ext cx="310896" cy="310896"/>
          </a:xfrm>
          <a:prstGeom prst="ellipse">
            <a:avLst/>
          </a:prstGeom>
          <a:solidFill>
            <a:srgbClr val="EEF2F7"/>
          </a:solidFill>
          <a:ln/>
        </p:spPr>
      </p:sp>
      <p:sp>
        <p:nvSpPr>
          <p:cNvPr id="27" name="Text 19"/>
          <p:cNvSpPr/>
          <p:nvPr/>
        </p:nvSpPr>
        <p:spPr>
          <a:xfrm>
            <a:off x="11311128" y="6382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_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ptx_assets/bar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822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0EA5E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 | PARTE 1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566928" y="621792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SQL dinâmico sem abrir a porta para injeção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566928" y="120700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consulta é montada em tempo de execução, mas o texto do usuário nunca vira parte do comando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66928" y="1627632"/>
            <a:ext cx="1105509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4"/>
          <p:cNvSpPr/>
          <p:nvPr/>
        </p:nvSpPr>
        <p:spPr>
          <a:xfrm>
            <a:off x="566928" y="1920240"/>
            <a:ext cx="6035040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68096" y="2066544"/>
            <a:ext cx="5632704" cy="3913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BUSCA_RECURSOS: só os filtros informados entram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v_sql := v_sql || CASE WHEN p_ds_tipo IS NOT NULL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THEN ' AND r.ds_tipo = :tipo'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ELSE ' AND :tipo IS NULL' END;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ordenação vem de lista fechada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v_order_by := CASE UPPER(p_ordem)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WHEN 'RECENTE'   THEN 'dt_cadastro DESC'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WHEN 'NOME'      THEN 'nm_recurso'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WHEN 'DISTANCIA' THEN 'distancia_km NULLS LAST'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ELSE NULL END;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valores sempre por bind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v_cursor FOR v_sql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USING p_lat, p_lon, p_id_categoria,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UPPER(p_ds_tipo), UPPER(p_ds_disponibilidade),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v_texto, v_raio;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876288" y="1920240"/>
            <a:ext cx="4745736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114032" y="2157984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E0F2FE"/>
          </a:solidFill>
          <a:ln/>
        </p:spPr>
      </p:sp>
      <p:pic>
        <p:nvPicPr>
          <p:cNvPr id="12" name="Image 2" descr="pptx_assets/ic_database_sk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8639" y="2262591"/>
            <a:ext cx="193121" cy="19312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680960" y="2157984"/>
            <a:ext cx="3703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Contagem e volumetria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7150608" y="2724912"/>
            <a:ext cx="419709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Nome da tabela precisa existir em USER_TABLES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ENQUOTE_NAME no comando; cresce SH_VOLUMETRIA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876288" y="3383280"/>
            <a:ext cx="4745736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114032" y="3621024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D1FAE5"/>
          </a:solidFill>
          <a:ln/>
        </p:spPr>
      </p:sp>
      <p:pic>
        <p:nvPicPr>
          <p:cNvPr id="17" name="Image 3" descr="pptx_assets/ic_target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8639" y="3725631"/>
            <a:ext cx="193121" cy="19312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680960" y="3621024"/>
            <a:ext cx="3703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Busca em tempo real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7150608" y="4187952"/>
            <a:ext cx="4197096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Categoria, tipo, texto, raio em km e ordem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Devolve SYS_REFCURSOR; o backend lê o cursor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6876288" y="4846320"/>
            <a:ext cx="4745736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114032" y="5084064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FEE2E2"/>
          </a:solidFill>
          <a:ln/>
        </p:spPr>
      </p:sp>
      <p:pic>
        <p:nvPicPr>
          <p:cNvPr id="22" name="Image 4" descr="pptx_assets/ic_shield_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8639" y="5188671"/>
            <a:ext cx="193121" cy="19312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680960" y="5084064"/>
            <a:ext cx="3703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Injeção recusada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7150608" y="5650992"/>
            <a:ext cx="419709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'SH_USUARIO; DROP TABLE...' dá ORA-20401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Ordem fora da lista dá ORA-20402 (HTTP 400)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566928" y="6419088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HAS · Fase 7 · Consolidação e entrega contínua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11311128" y="6382512"/>
            <a:ext cx="310896" cy="310896"/>
          </a:xfrm>
          <a:prstGeom prst="ellipse">
            <a:avLst/>
          </a:prstGeom>
          <a:solidFill>
            <a:srgbClr val="EEF2F7"/>
          </a:solidFill>
          <a:ln/>
        </p:spPr>
      </p:sp>
      <p:sp>
        <p:nvSpPr>
          <p:cNvPr id="27" name="Text 20"/>
          <p:cNvSpPr/>
          <p:nvPr/>
        </p:nvSpPr>
        <p:spPr>
          <a:xfrm>
            <a:off x="11311128" y="6382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_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ptx_assets/bar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822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0EA5E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 | PARTE 1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566928" y="621792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Provado contra um Oracle de verdade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566928" y="120700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Os testes do backend chamam os pacotes e as triggers e conferem o que o banco decidiu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66928" y="1627632"/>
            <a:ext cx="11055096" cy="10973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8" name="Image 2" descr="pptx_assets/term_testes_f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416126"/>
            <a:ext cx="4114800" cy="326018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956048" y="1920240"/>
            <a:ext cx="6665976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5193792" y="2157984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D1FAE5"/>
          </a:solidFill>
          <a:ln/>
        </p:spPr>
      </p:sp>
      <p:pic>
        <p:nvPicPr>
          <p:cNvPr id="11" name="Image 3" descr="pptx_assets/ic_check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8399" y="2262591"/>
            <a:ext cx="193121" cy="19312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760720" y="2157984"/>
            <a:ext cx="5623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 que os 14 testes de integração cobrem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5230368" y="2724912"/>
            <a:ext cx="6117336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Objetos válidos: 4 pacotes e 3 triggers habilitadas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Ciclo pedido → reserva → devolução → reputação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Auditoria, estado final e cancelamento liberando item</a:t>
            </a:r>
            <a:endParaRPr lang="en-US" sz="1050" dirty="0"/>
          </a:p>
        </p:txBody>
      </p:sp>
      <p:sp>
        <p:nvSpPr>
          <p:cNvPr id="14" name="Shape 8"/>
          <p:cNvSpPr/>
          <p:nvPr/>
        </p:nvSpPr>
        <p:spPr>
          <a:xfrm>
            <a:off x="4956048" y="3749040"/>
            <a:ext cx="6665976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5193792" y="3986784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/>
        </p:spPr>
      </p:sp>
      <p:pic>
        <p:nvPicPr>
          <p:cNvPr id="16" name="Image 4" descr="pptx_assets/ic_shield_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8399" y="4091391"/>
            <a:ext cx="193121" cy="19312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760720" y="3986784"/>
            <a:ext cx="5623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Segurança do SQL dinâmico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5230368" y="4553712"/>
            <a:ext cx="611733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Quatro textos maliciosos recusados na contagem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Injeção no LIKE vira valor, não comando</a:t>
            </a:r>
            <a:endParaRPr lang="en-US" sz="1050" dirty="0"/>
          </a:p>
        </p:txBody>
      </p:sp>
      <p:sp>
        <p:nvSpPr>
          <p:cNvPr id="19" name="Shape 12"/>
          <p:cNvSpPr/>
          <p:nvPr/>
        </p:nvSpPr>
        <p:spPr>
          <a:xfrm>
            <a:off x="4956048" y="5257800"/>
            <a:ext cx="666597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5193792" y="5495544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E0F2FE"/>
          </a:solidFill>
          <a:ln/>
        </p:spPr>
      </p:sp>
      <p:pic>
        <p:nvPicPr>
          <p:cNvPr id="21" name="Image 5" descr="pptx_assets/ic_refresh_sk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8399" y="5600151"/>
            <a:ext cx="193121" cy="193121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760720" y="5495544"/>
            <a:ext cx="5623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Sem sujeira no banco</a:t>
            </a:r>
            <a:endParaRPr lang="en-US" sz="1350" dirty="0"/>
          </a:p>
        </p:txBody>
      </p:sp>
      <p:sp>
        <p:nvSpPr>
          <p:cNvPr id="23" name="Text 15"/>
          <p:cNvSpPr/>
          <p:nvPr/>
        </p:nvSpPr>
        <p:spPr>
          <a:xfrm>
            <a:off x="5230368" y="6062472"/>
            <a:ext cx="6117336" cy="-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teste cria e apaga os próprios dados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566928" y="6419088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HAS · Fase 7 · Consolidação e entrega contínua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11311128" y="6382512"/>
            <a:ext cx="310896" cy="310896"/>
          </a:xfrm>
          <a:prstGeom prst="ellipse">
            <a:avLst/>
          </a:prstGeom>
          <a:solidFill>
            <a:srgbClr val="EEF2F7"/>
          </a:solidFill>
          <a:ln/>
        </p:spPr>
      </p:sp>
      <p:sp>
        <p:nvSpPr>
          <p:cNvPr id="26" name="Text 18"/>
          <p:cNvSpPr/>
          <p:nvPr/>
        </p:nvSpPr>
        <p:spPr>
          <a:xfrm>
            <a:off x="11311128" y="6382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_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ptx_assets/bar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822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0EA5E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 | PARTE 2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566928" y="621792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Pipeline CI/CD no GitHub Actions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566928" y="120700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Build, testes e deploy automáticos, com Oracle Free subindo como serviço do próprio job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66928" y="1627632"/>
            <a:ext cx="1105509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4"/>
          <p:cNvSpPr/>
          <p:nvPr/>
        </p:nvSpPr>
        <p:spPr>
          <a:xfrm>
            <a:off x="566928" y="1828800"/>
            <a:ext cx="11055096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Image 2" descr="pptx_assets/pipeline_f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976" y="1874520"/>
            <a:ext cx="9779000" cy="35204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66928" y="5577840"/>
            <a:ext cx="3532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Por que Actions e não Jenkins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566928" y="5824728"/>
            <a:ext cx="3532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repositório já está no GitHub e o pipeline vira YAML versionado junto com o código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4328160" y="5577840"/>
            <a:ext cx="3532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Build e testes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4328160" y="5824728"/>
            <a:ext cx="3532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mvnw verify contra o Oracle, ng build e tsc em paralelo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8089392" y="5577840"/>
            <a:ext cx="3532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Deploy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8089392" y="5824728"/>
            <a:ext cx="3532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 de fumaça, imagem no GHCR e schema no Oracle de destino quando houver segredos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566928" y="6419088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HAS · Fase 7 · Consolidação e entrega contínua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11311128" y="6382512"/>
            <a:ext cx="310896" cy="310896"/>
          </a:xfrm>
          <a:prstGeom prst="ellipse">
            <a:avLst/>
          </a:prstGeom>
          <a:solidFill>
            <a:srgbClr val="EEF2F7"/>
          </a:solidFill>
          <a:ln/>
        </p:spPr>
      </p:sp>
      <p:sp>
        <p:nvSpPr>
          <p:cNvPr id="18" name="Text 13"/>
          <p:cNvSpPr/>
          <p:nvPr/>
        </p:nvSpPr>
        <p:spPr>
          <a:xfrm>
            <a:off x="11311128" y="6382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_asset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ptx_assets/bar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822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 | PARTE 2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566928" y="621792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Execução real do pipeline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566928" y="120700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verde na main: 4 de 4 jobs, 5 min 10 s no total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66928" y="1627632"/>
            <a:ext cx="11055096" cy="10973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8" name="Image 2" descr="pptx_assets/term_smoke_f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813" y="1874520"/>
            <a:ext cx="4841190" cy="2377440"/>
          </a:xfrm>
          <a:prstGeom prst="rect">
            <a:avLst/>
          </a:prstGeom>
        </p:spPr>
      </p:pic>
      <p:pic>
        <p:nvPicPr>
          <p:cNvPr id="9" name="Image 3" descr="pptx_assets/term_instalacao_f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1889421"/>
            <a:ext cx="5394960" cy="3582079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66928" y="438912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 de fumaça: a API empacotada, ligada a um Oracle recém-instalado, responde ponta a ponta (REST → Spring → JDBC → PL/SQL).</a:t>
            </a:r>
            <a:endParaRPr lang="en-US" sz="1150" dirty="0"/>
          </a:p>
        </p:txBody>
      </p:sp>
      <p:sp>
        <p:nvSpPr>
          <p:cNvPr id="11" name="Shape 5"/>
          <p:cNvSpPr/>
          <p:nvPr/>
        </p:nvSpPr>
        <p:spPr>
          <a:xfrm>
            <a:off x="566928" y="5257800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2" name="Image 4" descr="pptx_assets/ic_github_sk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5458968"/>
            <a:ext cx="256032" cy="25603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33856" y="5349240"/>
            <a:ext cx="4681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WORKFLOW (GITHUB ACTIONS)</a:t>
            </a:r>
            <a:endParaRPr lang="en-US" sz="900" dirty="0"/>
          </a:p>
        </p:txBody>
      </p:sp>
      <p:sp>
        <p:nvSpPr>
          <p:cNvPr id="14" name="Text 7">
            <a:hlinkClick r:id="rId6" tooltip=""/>
          </p:cNvPr>
          <p:cNvSpPr/>
          <p:nvPr/>
        </p:nvSpPr>
        <p:spPr>
          <a:xfrm>
            <a:off x="1133856" y="5559552"/>
            <a:ext cx="4681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github.com/YuriRASousa/ComunidadeConectada_FASE5/actions</a:t>
            </a: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6236208" y="56235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Artefatos de cada run: logs do banco, relatórios Surefire e o jar empacotado.</a:t>
            </a:r>
            <a:endParaRPr lang="en-US" sz="1100" dirty="0"/>
          </a:p>
        </p:txBody>
      </p:sp>
      <p:sp>
        <p:nvSpPr>
          <p:cNvPr id="16" name="Text 9"/>
          <p:cNvSpPr/>
          <p:nvPr/>
        </p:nvSpPr>
        <p:spPr>
          <a:xfrm>
            <a:off x="566928" y="6419088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HAS · Fase 7 · Consolidação e entrega contínua</a:t>
            </a:r>
            <a:endParaRPr lang="en-US" sz="900" dirty="0"/>
          </a:p>
        </p:txBody>
      </p:sp>
      <p:sp>
        <p:nvSpPr>
          <p:cNvPr id="17" name="Shape 10"/>
          <p:cNvSpPr/>
          <p:nvPr/>
        </p:nvSpPr>
        <p:spPr>
          <a:xfrm>
            <a:off x="11311128" y="6382512"/>
            <a:ext cx="310896" cy="31089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8" name="Text 11"/>
          <p:cNvSpPr/>
          <p:nvPr/>
        </p:nvSpPr>
        <p:spPr>
          <a:xfrm>
            <a:off x="11311128" y="6382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_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ptx_assets/bar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822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0EA5E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VALOR AGREGADO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566928" y="621792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Segurança e rastreabilidade no caminho inteiro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566928" y="120700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a consolidação muda para quem mantém e para quem usa o sistema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66928" y="1627632"/>
            <a:ext cx="1105509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4"/>
          <p:cNvSpPr/>
          <p:nvPr/>
        </p:nvSpPr>
        <p:spPr>
          <a:xfrm>
            <a:off x="566928" y="1920240"/>
            <a:ext cx="353263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04672" y="2157984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E0F2FE"/>
          </a:solidFill>
          <a:ln/>
        </p:spPr>
      </p:sp>
      <p:pic>
        <p:nvPicPr>
          <p:cNvPr id="10" name="Image 2" descr="pptx_assets/ic_lock_sk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279" y="2262591"/>
            <a:ext cx="193121" cy="19312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2157984"/>
            <a:ext cx="2490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Segredos fora do código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841248" y="2724912"/>
            <a:ext cx="2983992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Credenciais por variável de ambiente e secrets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Oracle do CI é descartável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Destino real só com ORACLE_DEPLOY_*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4328160" y="1920240"/>
            <a:ext cx="353263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565904" y="2157984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FEE2E2"/>
          </a:solidFill>
          <a:ln/>
        </p:spPr>
      </p:sp>
      <p:pic>
        <p:nvPicPr>
          <p:cNvPr id="15" name="Image 3" descr="pptx_assets/ic_shield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0511" y="2262591"/>
            <a:ext cx="193121" cy="19312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132832" y="2157984"/>
            <a:ext cx="2490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Defesa em camadas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4602480" y="2724912"/>
            <a:ext cx="2983992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Injeção barrada no banco, não só na API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Permissões do pipeline no mínimo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Imagem Docker roda sem root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8089392" y="1920240"/>
            <a:ext cx="353263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8327136" y="2157984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E0E7FF"/>
          </a:solidFill>
          <a:ln/>
        </p:spPr>
      </p:sp>
      <p:pic>
        <p:nvPicPr>
          <p:cNvPr id="20" name="Image 4" descr="pptx_assets/ic_fileText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1743" y="2262591"/>
            <a:ext cx="193121" cy="19312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894064" y="2157984"/>
            <a:ext cx="2490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Rastreabilidade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8363712" y="2724912"/>
            <a:ext cx="2983992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Quem mudou o quê, antes e depois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em transação autônoma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Alinhado à LGPD: sem senha na trilha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566928" y="4114800"/>
            <a:ext cx="353263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804672" y="4352544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D1FAE5"/>
          </a:solidFill>
          <a:ln/>
        </p:spPr>
      </p:sp>
      <p:pic>
        <p:nvPicPr>
          <p:cNvPr id="25" name="Image 5" descr="pptx_assets/ic_refresh_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279" y="4457151"/>
            <a:ext cx="193121" cy="19312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371600" y="4352544"/>
            <a:ext cx="2490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Entrega previsível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841248" y="4919472"/>
            <a:ext cx="2983992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Mesmo caminho em todo push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Falha de teste impede o deploy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Imagem Docker versionada pelo commit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4328160" y="4114800"/>
            <a:ext cx="353263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4565904" y="4352544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/>
        </p:spPr>
      </p:sp>
      <p:pic>
        <p:nvPicPr>
          <p:cNvPr id="30" name="Image 6" descr="pptx_assets/ic_zap_amb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0511" y="4457151"/>
            <a:ext cx="193121" cy="193121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132832" y="4352544"/>
            <a:ext cx="2490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Manutenção</a:t>
            </a:r>
            <a:endParaRPr lang="en-US" sz="1350" dirty="0"/>
          </a:p>
        </p:txBody>
      </p:sp>
      <p:sp>
        <p:nvSpPr>
          <p:cNvPr id="32" name="Text 23"/>
          <p:cNvSpPr/>
          <p:nvPr/>
        </p:nvSpPr>
        <p:spPr>
          <a:xfrm>
            <a:off x="4602480" y="4919472"/>
            <a:ext cx="2983992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Regra num lugar só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Constantes de negócio no pacote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Body muda sem invalidar quem chama</a:t>
            </a:r>
            <a:endParaRPr lang="en-US" sz="1050" dirty="0"/>
          </a:p>
        </p:txBody>
      </p:sp>
      <p:sp>
        <p:nvSpPr>
          <p:cNvPr id="33" name="Shape 24"/>
          <p:cNvSpPr/>
          <p:nvPr/>
        </p:nvSpPr>
        <p:spPr>
          <a:xfrm>
            <a:off x="8089392" y="4114800"/>
            <a:ext cx="353263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8327136" y="4352544"/>
            <a:ext cx="402336" cy="402336"/>
          </a:xfrm>
          <a:prstGeom prst="roundRect">
            <a:avLst>
              <a:gd name="adj" fmla="val 12500"/>
            </a:avLst>
          </a:prstGeom>
          <a:solidFill>
            <a:srgbClr val="E0F2FE"/>
          </a:solidFill>
          <a:ln/>
        </p:spPr>
      </p:sp>
      <p:pic>
        <p:nvPicPr>
          <p:cNvPr id="35" name="Image 7" descr="pptx_assets/ic_boxes_sk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1743" y="4457151"/>
            <a:ext cx="193121" cy="193121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8894064" y="4352544"/>
            <a:ext cx="2490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Pronto para a nuvem</a:t>
            </a:r>
            <a:endParaRPr lang="en-US" sz="1350" dirty="0"/>
          </a:p>
        </p:txBody>
      </p:sp>
      <p:sp>
        <p:nvSpPr>
          <p:cNvPr id="37" name="Text 27"/>
          <p:cNvSpPr/>
          <p:nvPr/>
        </p:nvSpPr>
        <p:spPr>
          <a:xfrm>
            <a:off x="8363712" y="4919472"/>
            <a:ext cx="2983992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Roda em Oracle 19c e 23ai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compose para o ambiente local</a:t>
            </a:r>
            <a:endParaRPr lang="en-US" sz="10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Migração para OCI: conexão e wallet</a:t>
            </a:r>
            <a:endParaRPr lang="en-US" sz="1050" dirty="0"/>
          </a:p>
        </p:txBody>
      </p:sp>
      <p:sp>
        <p:nvSpPr>
          <p:cNvPr id="38" name="Text 28"/>
          <p:cNvSpPr/>
          <p:nvPr/>
        </p:nvSpPr>
        <p:spPr>
          <a:xfrm>
            <a:off x="566928" y="6419088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HAS · Fase 7 · Consolidação e entrega contínua</a:t>
            </a:r>
            <a:endParaRPr lang="en-US" sz="900" dirty="0"/>
          </a:p>
        </p:txBody>
      </p:sp>
      <p:sp>
        <p:nvSpPr>
          <p:cNvPr id="39" name="Shape 29"/>
          <p:cNvSpPr/>
          <p:nvPr/>
        </p:nvSpPr>
        <p:spPr>
          <a:xfrm>
            <a:off x="11311128" y="6382512"/>
            <a:ext cx="310896" cy="310896"/>
          </a:xfrm>
          <a:prstGeom prst="ellipse">
            <a:avLst/>
          </a:prstGeom>
          <a:solidFill>
            <a:srgbClr val="EEF2F7"/>
          </a:solidFill>
          <a:ln/>
        </p:spPr>
      </p:sp>
      <p:sp>
        <p:nvSpPr>
          <p:cNvPr id="40" name="Text 30"/>
          <p:cNvSpPr/>
          <p:nvPr/>
        </p:nvSpPr>
        <p:spPr>
          <a:xfrm>
            <a:off x="11311128" y="6382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x_asset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ptx_assets/bar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822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20" kern="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ENCERRAMENTO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566928" y="621792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Como reproduzir e próximos passos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566928" y="1207008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Tudo está no repositório e roda do zero com três comandos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66928" y="1627632"/>
            <a:ext cx="11055096" cy="10973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Shape 4"/>
          <p:cNvSpPr/>
          <p:nvPr/>
        </p:nvSpPr>
        <p:spPr>
          <a:xfrm>
            <a:off x="566928" y="1920240"/>
            <a:ext cx="5760720" cy="2286000"/>
          </a:xfrm>
          <a:prstGeom prst="roundRect">
            <a:avLst>
              <a:gd name="adj" fmla="val 32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68096" y="2066544"/>
            <a:ext cx="5358384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banco (Oracle 19c ou 23ai)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oracledb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database/executar_scripts.py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backend + testes de integração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backend/smarthas-api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SMARTHAS_DB_TESTS=true ./mvnw verify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66928" y="438912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Entregáveis: relatório em PDF, slides em PDF, código no GitHub e vídeo de até 5 minutos no YouTube, com a demonstração do aplicativo rodando.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601968" y="1920240"/>
            <a:ext cx="5020056" cy="658368"/>
          </a:xfrm>
          <a:prstGeom prst="roundRect">
            <a:avLst>
              <a:gd name="adj" fmla="val 13889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2" name="Image 2" descr="pptx_assets/ic_youtube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36" y="2121408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68896" y="2011680"/>
            <a:ext cx="4306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VÍDEO (YOUTUBE, NÃO LISTADO)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7168896" y="2221992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youtu.be/COLE-O-ID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601968" y="2743200"/>
            <a:ext cx="5020056" cy="658368"/>
          </a:xfrm>
          <a:prstGeom prst="roundRect">
            <a:avLst>
              <a:gd name="adj" fmla="val 1388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6" name="Image 3" descr="pptx_assets/ic_github_sk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136" y="2944368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168896" y="2834640"/>
            <a:ext cx="4306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REPOSITÓRIO (GITHUB)</a:t>
            </a:r>
            <a:endParaRPr lang="en-US" sz="900" dirty="0"/>
          </a:p>
        </p:txBody>
      </p:sp>
      <p:sp>
        <p:nvSpPr>
          <p:cNvPr id="18" name="Text 12">
            <a:hlinkClick r:id="rId5" tooltip=""/>
          </p:cNvPr>
          <p:cNvSpPr/>
          <p:nvPr/>
        </p:nvSpPr>
        <p:spPr>
          <a:xfrm>
            <a:off x="7168896" y="3044952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github.com/YuriRASousa/ComunidadeConectada_FASE5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601968" y="3566160"/>
            <a:ext cx="5020056" cy="658368"/>
          </a:xfrm>
          <a:prstGeom prst="roundRect">
            <a:avLst>
              <a:gd name="adj" fmla="val 1388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0" name="Image 4" descr="pptx_assets/ic_rocket_sk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3136" y="3767328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68896" y="3657600"/>
            <a:ext cx="4306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PIPELINE (GITHUB ACTIONS)</a:t>
            </a:r>
            <a:endParaRPr lang="en-US" sz="900" dirty="0"/>
          </a:p>
        </p:txBody>
      </p:sp>
      <p:sp>
        <p:nvSpPr>
          <p:cNvPr id="22" name="Text 15">
            <a:hlinkClick r:id="rId7" tooltip=""/>
          </p:cNvPr>
          <p:cNvSpPr/>
          <p:nvPr/>
        </p:nvSpPr>
        <p:spPr>
          <a:xfrm>
            <a:off x="7168896" y="3867912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github.com/YuriRASousa/ComunidadeConectada_FASE5/actions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6601968" y="4572000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Próximos passos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6601968" y="4864608"/>
            <a:ext cx="502005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Levar o schema para um Autonomous Database na OCI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Wallet e usuário de aplicação com menor privilégio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Alarmes de CPU e armazenamento no Performance Hub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566928" y="6419088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HAS · Fase 7 · Consolidação e entrega contínua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11311128" y="6382512"/>
            <a:ext cx="310896" cy="310896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7" name="Text 20"/>
          <p:cNvSpPr/>
          <p:nvPr/>
        </p:nvSpPr>
        <p:spPr>
          <a:xfrm>
            <a:off x="11311128" y="6382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HAS · Fase 7 · Consolidação e entrega contínua</dc:title>
  <dc:subject>PptxGenJS Presentation</dc:subject>
  <dc:creator>Yuri Raphael Alves de Sousa</dc:creator>
  <cp:lastModifiedBy>Yuri Raphael Alves de Sousa</cp:lastModifiedBy>
  <cp:revision>1</cp:revision>
  <dcterms:created xsi:type="dcterms:W3CDTF">2026-10-18T04:06:14Z</dcterms:created>
  <dcterms:modified xsi:type="dcterms:W3CDTF">2026-10-18T04:06:14Z</dcterms:modified>
</cp:coreProperties>
</file>